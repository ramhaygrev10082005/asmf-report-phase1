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2.xml" ContentType="application/vnd.openxmlformats-officedocument.themeOverride+xml"/>
  <Override PartName="/ppt/notesSlides/notesSlide4.xml" ContentType="application/vnd.openxmlformats-officedocument.presentationml.notesSlide+xml"/>
  <Override PartName="/ppt/theme/themeOverride3.xml" ContentType="application/vnd.openxmlformats-officedocument.themeOverride+xml"/>
  <Override PartName="/ppt/notesSlides/notesSlide5.xml" ContentType="application/vnd.openxmlformats-officedocument.presentationml.notesSlide+xml"/>
  <Override PartName="/ppt/theme/themeOverride4.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6"/>
  </p:notesMasterIdLst>
  <p:sldIdLst>
    <p:sldId id="256" r:id="rId2"/>
    <p:sldId id="269" r:id="rId3"/>
    <p:sldId id="270" r:id="rId4"/>
    <p:sldId id="257" r:id="rId5"/>
    <p:sldId id="259" r:id="rId6"/>
    <p:sldId id="258" r:id="rId7"/>
    <p:sldId id="260" r:id="rId8"/>
    <p:sldId id="261" r:id="rId9"/>
    <p:sldId id="262" r:id="rId10"/>
    <p:sldId id="263" r:id="rId11"/>
    <p:sldId id="264" r:id="rId12"/>
    <p:sldId id="265" r:id="rId13"/>
    <p:sldId id="266" r:id="rId14"/>
    <p:sldId id="267" r:id="rId15"/>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951" autoAdjust="0"/>
    <p:restoredTop sz="86364" autoAdjust="0"/>
  </p:normalViewPr>
  <p:slideViewPr>
    <p:cSldViewPr>
      <p:cViewPr varScale="1">
        <p:scale>
          <a:sx n="82" d="100"/>
          <a:sy n="82" d="100"/>
        </p:scale>
        <p:origin x="446"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06-10-2026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extLst>
      <p:ext uri="{BB962C8B-B14F-4D97-AF65-F5344CB8AC3E}">
        <p14:creationId xmlns:p14="http://schemas.microsoft.com/office/powerpoint/2010/main" val="80966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t>Source: ASMF_Phase_I_Project_Report.pdf. Cover and certificate, PDF pages 1-2.</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t>Source: ASMF_Phase_I_Project_Report.pdf. Introduction, PDF pages 10-12.</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t>Source: ASMF_Phase_I_Project_Report.pdf. Related work, PDF pages 15-17.</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t>Source: ASMF_Phase_I_Project_Report.pdf. Problem and research gaps, PDF pages 11-12 and 16-17.</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t>Source: ASMF_Phase_I_Project_Report.pdf. Abstract and proposed system, PDF pages 3-4 and 17-18.</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t>Source: ASMF_Phase_I_Project_Report.pdf. Objectives and methodology, PDF pages 12 and 31-33.</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t>Source: ASMF_Phase_I_Project_Report.pdf. Original system architecture figure, PDF page 19. This figure describes the report design, not independently verified deployment.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t>Source: ASMF_Phase_I_Project_Report.pdf. Modules and digest boundaries, PDF pages 21-22 and 30-31.</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t>Source: ASMF_Phase_I_Project_Report.pdf. Module descriptions, PDF pages 21-23.</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t>Source: ASMF_Phase_I_Project_Report.pdf. Reported results: PDF pages 34-35, Tables 4.1 and 4.3. Centralized F1 is 0.87. Federated nodes are simulated partitions. Dataset identity, exact node count, hyperparameters and seeds are unspecified in the supplied report. These numbers were not independently reproduced. Screenshot: supplied Screenshot 2026-10-06 191047.png. It displays DEMO DATA, no evidence/backend writes, 0 verified evidence and backend system health not checked. It demonstrates the interface only.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t>Source: ASMF_Phase_I_Project_Report.pdf. Conclusion, limits and Phase II work, PDF pages 38-40. FL alone does not guarantee privacy. Digest verification does not establish source truth or legal admissibility.</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t>Source: ASMF_Phase_I_Project_Report.pdf. References reproduced from PDF page 41. No external literature claims independently checked.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t>Source: ASMF_Phase_I_Project_Report.pdf. Publication appendix, PDF page 42. Conference name, date and submission/acceptance status remain unspecified.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8D13192D-1816-F03A-9AF1-BBA902A8A17D}"/>
              </a:ext>
            </a:extLst>
          </p:cNvPr>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3" name="Date Placeholder 2">
            <a:extLst>
              <a:ext uri="{FF2B5EF4-FFF2-40B4-BE49-F238E27FC236}">
                <a16:creationId xmlns:a16="http://schemas.microsoft.com/office/drawing/2014/main" id="{814B6A37-AD04-C654-AC92-D9CC3ADF0A51}"/>
              </a:ext>
            </a:extLst>
          </p:cNvPr>
          <p:cNvSpPr>
            <a:spLocks noGrp="1" noChangeArrowheads="1"/>
          </p:cNvSpPr>
          <p:nvPr>
            <p:ph type="dt" sz="half" idx="10"/>
          </p:nvPr>
        </p:nvSpPr>
        <p:spPr>
          <a:xfrm>
            <a:off x="914400" y="6248400"/>
            <a:ext cx="2540000" cy="457200"/>
          </a:xfrm>
        </p:spPr>
        <p:txBody>
          <a:bodyPr/>
          <a:lstStyle>
            <a:lvl1pPr>
              <a:defRPr/>
            </a:lvl1pPr>
          </a:lstStyle>
          <a:p>
            <a:pPr>
              <a:defRPr/>
            </a:pPr>
            <a:r>
              <a:rPr lang="en-US"/>
              <a:t>Second Review</a:t>
            </a:r>
          </a:p>
        </p:txBody>
      </p:sp>
      <p:sp>
        <p:nvSpPr>
          <p:cNvPr id="4" name="Footer Placeholder 3">
            <a:extLst>
              <a:ext uri="{FF2B5EF4-FFF2-40B4-BE49-F238E27FC236}">
                <a16:creationId xmlns:a16="http://schemas.microsoft.com/office/drawing/2014/main" id="{EE58272B-7D6B-F3CE-953F-1079FFA8D80E}"/>
              </a:ext>
            </a:extLst>
          </p:cNvPr>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a:extLst>
              <a:ext uri="{FF2B5EF4-FFF2-40B4-BE49-F238E27FC236}">
                <a16:creationId xmlns:a16="http://schemas.microsoft.com/office/drawing/2014/main" id="{E55F3314-4EF0-936B-77EE-175E9EF6B55B}"/>
              </a:ext>
            </a:extLst>
          </p:cNvPr>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pPr>
                <a:defRPr/>
              </a:pPr>
              <a:t>‹#›</a:t>
            </a:fld>
            <a:endParaRPr lang="en-US" altLang="en-US"/>
          </a:p>
        </p:txBody>
      </p:sp>
    </p:spTree>
    <p:extLst>
      <p:ext uri="{BB962C8B-B14F-4D97-AF65-F5344CB8AC3E}">
        <p14:creationId xmlns:p14="http://schemas.microsoft.com/office/powerpoint/2010/main" val="175096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4A88B164-965D-9E09-9E7D-16374A9EADDD}"/>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id="{EE044AE8-B23C-D8C6-4D87-EADCB1C0F02B}"/>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BE04F0FC-AAC5-064C-CDAD-FF80D73B3853}"/>
              </a:ext>
            </a:extLst>
          </p:cNvPr>
          <p:cNvSpPr>
            <a:spLocks noGrp="1" noChangeArrowheads="1"/>
          </p:cNvSpPr>
          <p:nvPr>
            <p:ph type="sldNum" sz="quarter" idx="12"/>
          </p:nvPr>
        </p:nvSpPr>
        <p:spPr>
          <a:ln/>
        </p:spPr>
        <p:txBody>
          <a:bodyPr/>
          <a:lstStyle>
            <a:lvl1pPr>
              <a:defRPr/>
            </a:lvl1pPr>
          </a:lstStyle>
          <a:p>
            <a:pPr>
              <a:defRPr/>
            </a:pPr>
            <a:fld id="{BDC2143B-610F-499C-A392-DFFBE135A7B2}" type="slidenum">
              <a:rPr lang="en-US" altLang="en-US"/>
              <a:pPr>
                <a:defRPr/>
              </a:pPr>
              <a:t>‹#›</a:t>
            </a:fld>
            <a:endParaRPr lang="en-US" altLang="en-US"/>
          </a:p>
        </p:txBody>
      </p:sp>
    </p:spTree>
    <p:extLst>
      <p:ext uri="{BB962C8B-B14F-4D97-AF65-F5344CB8AC3E}">
        <p14:creationId xmlns:p14="http://schemas.microsoft.com/office/powerpoint/2010/main" val="2422674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9E3D50AC-D896-487B-A964-4F2362A2FCEC}"/>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id="{1860975C-7E6F-6BD7-97FB-B68EFA315FE1}"/>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925DB3BD-FB8F-C610-9A37-B3ADF214A3E4}"/>
              </a:ext>
            </a:extLst>
          </p:cNvPr>
          <p:cNvSpPr>
            <a:spLocks noGrp="1" noChangeArrowheads="1"/>
          </p:cNvSpPr>
          <p:nvPr>
            <p:ph type="sldNum" sz="quarter" idx="12"/>
          </p:nvPr>
        </p:nvSpPr>
        <p:spPr>
          <a:ln/>
        </p:spPr>
        <p:txBody>
          <a:bodyPr/>
          <a:lstStyle>
            <a:lvl1pPr>
              <a:defRPr/>
            </a:lvl1pPr>
          </a:lstStyle>
          <a:p>
            <a:pPr>
              <a:defRPr/>
            </a:pPr>
            <a:fld id="{575C213C-AC18-4D5A-BA73-4550FF50B842}" type="slidenum">
              <a:rPr lang="en-US" altLang="en-US"/>
              <a:pPr>
                <a:defRPr/>
              </a:pPr>
              <a:t>‹#›</a:t>
            </a:fld>
            <a:endParaRPr lang="en-US" altLang="en-US"/>
          </a:p>
        </p:txBody>
      </p:sp>
    </p:spTree>
    <p:extLst>
      <p:ext uri="{BB962C8B-B14F-4D97-AF65-F5344CB8AC3E}">
        <p14:creationId xmlns:p14="http://schemas.microsoft.com/office/powerpoint/2010/main" val="154354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1CC1F139-34C5-A295-F629-88EF76019A55}"/>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6" name="Rectangle 7">
            <a:extLst>
              <a:ext uri="{FF2B5EF4-FFF2-40B4-BE49-F238E27FC236}">
                <a16:creationId xmlns:a16="http://schemas.microsoft.com/office/drawing/2014/main" id="{AB20EB37-7A2A-E49D-01DB-6418D7037D0A}"/>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C4FAAEF5-CC11-F779-153E-E74E333E5AC1}"/>
              </a:ext>
            </a:extLst>
          </p:cNvPr>
          <p:cNvSpPr>
            <a:spLocks noGrp="1" noChangeArrowheads="1"/>
          </p:cNvSpPr>
          <p:nvPr>
            <p:ph type="sldNum" sz="quarter" idx="12"/>
          </p:nvPr>
        </p:nvSpPr>
        <p:spPr>
          <a:ln/>
        </p:spPr>
        <p:txBody>
          <a:bodyPr/>
          <a:lstStyle>
            <a:lvl1pPr>
              <a:defRPr/>
            </a:lvl1pPr>
          </a:lstStyle>
          <a:p>
            <a:pPr>
              <a:defRPr/>
            </a:pPr>
            <a:fld id="{7A8ED4EA-E359-45F1-B86A-A40772B25C23}" type="slidenum">
              <a:rPr lang="en-US" altLang="en-US"/>
              <a:pPr>
                <a:defRPr/>
              </a:pPr>
              <a:t>‹#›</a:t>
            </a:fld>
            <a:endParaRPr lang="en-US" altLang="en-US"/>
          </a:p>
        </p:txBody>
      </p:sp>
    </p:spTree>
    <p:extLst>
      <p:ext uri="{BB962C8B-B14F-4D97-AF65-F5344CB8AC3E}">
        <p14:creationId xmlns:p14="http://schemas.microsoft.com/office/powerpoint/2010/main" val="1812587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B4E764D-F83F-9CC9-8E38-FEA9647AB755}"/>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8" name="Rectangle 7">
            <a:extLst>
              <a:ext uri="{FF2B5EF4-FFF2-40B4-BE49-F238E27FC236}">
                <a16:creationId xmlns:a16="http://schemas.microsoft.com/office/drawing/2014/main" id="{BABF83D4-B422-239C-8C38-4509A66ADBE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9" name="Rectangle 8">
            <a:extLst>
              <a:ext uri="{FF2B5EF4-FFF2-40B4-BE49-F238E27FC236}">
                <a16:creationId xmlns:a16="http://schemas.microsoft.com/office/drawing/2014/main" id="{781238FA-AFA9-8287-25C9-98D6042CFD33}"/>
              </a:ext>
            </a:extLst>
          </p:cNvPr>
          <p:cNvSpPr>
            <a:spLocks noGrp="1" noChangeArrowheads="1"/>
          </p:cNvSpPr>
          <p:nvPr>
            <p:ph type="sldNum" sz="quarter" idx="12"/>
          </p:nvPr>
        </p:nvSpPr>
        <p:spPr>
          <a:ln/>
        </p:spPr>
        <p:txBody>
          <a:bodyPr/>
          <a:lstStyle>
            <a:lvl1pPr>
              <a:defRPr/>
            </a:lvl1pPr>
          </a:lstStyle>
          <a:p>
            <a:pPr>
              <a:defRPr/>
            </a:pPr>
            <a:fld id="{E637AD66-1F60-49BE-A2E9-D91D10CB91F3}" type="slidenum">
              <a:rPr lang="en-US" altLang="en-US"/>
              <a:pPr>
                <a:defRPr/>
              </a:pPr>
              <a:t>‹#›</a:t>
            </a:fld>
            <a:endParaRPr lang="en-US" altLang="en-US"/>
          </a:p>
        </p:txBody>
      </p:sp>
    </p:spTree>
    <p:extLst>
      <p:ext uri="{BB962C8B-B14F-4D97-AF65-F5344CB8AC3E}">
        <p14:creationId xmlns:p14="http://schemas.microsoft.com/office/powerpoint/2010/main" val="3338931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B80D49F1-7BF0-A0A8-0C0A-9B4F1788B3B4}"/>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4" name="Rectangle 7">
            <a:extLst>
              <a:ext uri="{FF2B5EF4-FFF2-40B4-BE49-F238E27FC236}">
                <a16:creationId xmlns:a16="http://schemas.microsoft.com/office/drawing/2014/main" id="{BDDDAEBE-B0DA-0212-414B-C9FFC612D8C0}"/>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5" name="Rectangle 8">
            <a:extLst>
              <a:ext uri="{FF2B5EF4-FFF2-40B4-BE49-F238E27FC236}">
                <a16:creationId xmlns:a16="http://schemas.microsoft.com/office/drawing/2014/main" id="{7430D5C8-DD0F-C0FD-D016-9055C67C40FA}"/>
              </a:ext>
            </a:extLst>
          </p:cNvPr>
          <p:cNvSpPr>
            <a:spLocks noGrp="1" noChangeArrowheads="1"/>
          </p:cNvSpPr>
          <p:nvPr>
            <p:ph type="sldNum" sz="quarter" idx="12"/>
          </p:nvPr>
        </p:nvSpPr>
        <p:spPr>
          <a:ln/>
        </p:spPr>
        <p:txBody>
          <a:bodyPr/>
          <a:lstStyle>
            <a:lvl1pPr>
              <a:defRPr/>
            </a:lvl1pPr>
          </a:lstStyle>
          <a:p>
            <a:pPr>
              <a:defRPr/>
            </a:pPr>
            <a:fld id="{F583B680-F650-469F-A231-392F163461F6}" type="slidenum">
              <a:rPr lang="en-US" altLang="en-US"/>
              <a:pPr>
                <a:defRPr/>
              </a:pPr>
              <a:t>‹#›</a:t>
            </a:fld>
            <a:endParaRPr lang="en-US" altLang="en-US"/>
          </a:p>
        </p:txBody>
      </p:sp>
    </p:spTree>
    <p:extLst>
      <p:ext uri="{BB962C8B-B14F-4D97-AF65-F5344CB8AC3E}">
        <p14:creationId xmlns:p14="http://schemas.microsoft.com/office/powerpoint/2010/main" val="412681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90400DB2-066A-4CAE-071C-1EAF9DDB7276}"/>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3" name="Rectangle 7">
            <a:extLst>
              <a:ext uri="{FF2B5EF4-FFF2-40B4-BE49-F238E27FC236}">
                <a16:creationId xmlns:a16="http://schemas.microsoft.com/office/drawing/2014/main" id="{EAB14BBF-3825-C6B5-25F7-8686AAD7C35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4" name="Rectangle 8">
            <a:extLst>
              <a:ext uri="{FF2B5EF4-FFF2-40B4-BE49-F238E27FC236}">
                <a16:creationId xmlns:a16="http://schemas.microsoft.com/office/drawing/2014/main" id="{784D417B-4541-5C9D-274F-9952E6F120B4}"/>
              </a:ext>
            </a:extLst>
          </p:cNvPr>
          <p:cNvSpPr>
            <a:spLocks noGrp="1" noChangeArrowheads="1"/>
          </p:cNvSpPr>
          <p:nvPr>
            <p:ph type="sldNum" sz="quarter" idx="12"/>
          </p:nvPr>
        </p:nvSpPr>
        <p:spPr>
          <a:ln/>
        </p:spPr>
        <p:txBody>
          <a:bodyPr/>
          <a:lstStyle>
            <a:lvl1pPr>
              <a:defRPr/>
            </a:lvl1pPr>
          </a:lstStyle>
          <a:p>
            <a:pPr>
              <a:defRPr/>
            </a:pPr>
            <a:fld id="{DD537315-F462-4C74-88B4-A900525A3FAA}" type="slidenum">
              <a:rPr lang="en-US" altLang="en-US"/>
              <a:pPr>
                <a:defRPr/>
              </a:pPr>
              <a:t>‹#›</a:t>
            </a:fld>
            <a:endParaRPr lang="en-US" altLang="en-US"/>
          </a:p>
        </p:txBody>
      </p:sp>
    </p:spTree>
    <p:extLst>
      <p:ext uri="{BB962C8B-B14F-4D97-AF65-F5344CB8AC3E}">
        <p14:creationId xmlns:p14="http://schemas.microsoft.com/office/powerpoint/2010/main" val="2837779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70B1A011-C2F2-C9FC-9DD8-A4E6A00AA40D}"/>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6" name="Rectangle 7">
            <a:extLst>
              <a:ext uri="{FF2B5EF4-FFF2-40B4-BE49-F238E27FC236}">
                <a16:creationId xmlns:a16="http://schemas.microsoft.com/office/drawing/2014/main" id="{7B4C95F2-7321-CEE1-4FD5-BE988C3BAE38}"/>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24AB3D0A-7C9E-40E8-0F27-0C737BD346FF}"/>
              </a:ext>
            </a:extLst>
          </p:cNvPr>
          <p:cNvSpPr>
            <a:spLocks noGrp="1" noChangeArrowheads="1"/>
          </p:cNvSpPr>
          <p:nvPr>
            <p:ph type="sldNum" sz="quarter" idx="12"/>
          </p:nvPr>
        </p:nvSpPr>
        <p:spPr>
          <a:ln/>
        </p:spPr>
        <p:txBody>
          <a:bodyPr/>
          <a:lstStyle>
            <a:lvl1pPr>
              <a:defRPr/>
            </a:lvl1pPr>
          </a:lstStyle>
          <a:p>
            <a:pPr>
              <a:defRPr/>
            </a:pPr>
            <a:fld id="{379B2829-DA13-4801-8FBD-6D5729CB9593}" type="slidenum">
              <a:rPr lang="en-US" altLang="en-US"/>
              <a:pPr>
                <a:defRPr/>
              </a:pPr>
              <a:t>‹#›</a:t>
            </a:fld>
            <a:endParaRPr lang="en-US" altLang="en-US"/>
          </a:p>
        </p:txBody>
      </p:sp>
    </p:spTree>
    <p:extLst>
      <p:ext uri="{BB962C8B-B14F-4D97-AF65-F5344CB8AC3E}">
        <p14:creationId xmlns:p14="http://schemas.microsoft.com/office/powerpoint/2010/main" val="3501495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531D201-6E7B-DD71-C865-2CC768252091}"/>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6" name="Rectangle 7">
            <a:extLst>
              <a:ext uri="{FF2B5EF4-FFF2-40B4-BE49-F238E27FC236}">
                <a16:creationId xmlns:a16="http://schemas.microsoft.com/office/drawing/2014/main" id="{3A474AB6-A9CC-8EC3-60F9-BBEDD90B035D}"/>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414DF99B-1424-E931-A0EF-A2CCFECC39DF}"/>
              </a:ext>
            </a:extLst>
          </p:cNvPr>
          <p:cNvSpPr>
            <a:spLocks noGrp="1" noChangeArrowheads="1"/>
          </p:cNvSpPr>
          <p:nvPr>
            <p:ph type="sldNum" sz="quarter" idx="12"/>
          </p:nvPr>
        </p:nvSpPr>
        <p:spPr>
          <a:ln/>
        </p:spPr>
        <p:txBody>
          <a:bodyPr/>
          <a:lstStyle>
            <a:lvl1pPr>
              <a:defRPr/>
            </a:lvl1pPr>
          </a:lstStyle>
          <a:p>
            <a:pPr>
              <a:defRPr/>
            </a:pPr>
            <a:fld id="{B5B0EEF8-84AE-4BCB-9844-5B22523396C9}" type="slidenum">
              <a:rPr lang="en-US" altLang="en-US"/>
              <a:pPr>
                <a:defRPr/>
              </a:pPr>
              <a:t>‹#›</a:t>
            </a:fld>
            <a:endParaRPr lang="en-US" altLang="en-US"/>
          </a:p>
        </p:txBody>
      </p:sp>
    </p:spTree>
    <p:extLst>
      <p:ext uri="{BB962C8B-B14F-4D97-AF65-F5344CB8AC3E}">
        <p14:creationId xmlns:p14="http://schemas.microsoft.com/office/powerpoint/2010/main" val="97598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DE0854C1-7207-EF75-A61A-B4AF54A5D723}"/>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id="{023D97B6-49D4-67F3-668F-9724FD35233F}"/>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EE4FA587-585B-1C1F-066D-B211962B0DB9}"/>
              </a:ext>
            </a:extLst>
          </p:cNvPr>
          <p:cNvSpPr>
            <a:spLocks noGrp="1" noChangeArrowheads="1"/>
          </p:cNvSpPr>
          <p:nvPr>
            <p:ph type="sldNum" sz="quarter" idx="12"/>
          </p:nvPr>
        </p:nvSpPr>
        <p:spPr>
          <a:ln/>
        </p:spPr>
        <p:txBody>
          <a:bodyPr/>
          <a:lstStyle>
            <a:lvl1pPr>
              <a:defRPr/>
            </a:lvl1pPr>
          </a:lstStyle>
          <a:p>
            <a:pPr>
              <a:defRPr/>
            </a:pPr>
            <a:fld id="{5367E6EB-B6CA-430B-8761-75C737CF7AF1}" type="slidenum">
              <a:rPr lang="en-US" altLang="en-US"/>
              <a:pPr>
                <a:defRPr/>
              </a:pPr>
              <a:t>‹#›</a:t>
            </a:fld>
            <a:endParaRPr lang="en-US" altLang="en-US"/>
          </a:p>
        </p:txBody>
      </p:sp>
    </p:spTree>
    <p:extLst>
      <p:ext uri="{BB962C8B-B14F-4D97-AF65-F5344CB8AC3E}">
        <p14:creationId xmlns:p14="http://schemas.microsoft.com/office/powerpoint/2010/main" val="1939476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E1D0F6A3-93FF-6A17-402C-31256BC45713}"/>
              </a:ext>
            </a:extLst>
          </p:cNvPr>
          <p:cNvSpPr>
            <a:spLocks noGrp="1" noChangeArrowheads="1"/>
          </p:cNvSpPr>
          <p:nvPr>
            <p:ph type="dt" sz="half" idx="10"/>
          </p:nvPr>
        </p:nvSpPr>
        <p:spPr>
          <a:ln/>
        </p:spPr>
        <p:txBody>
          <a:bodyPr/>
          <a:lstStyle>
            <a:lvl1pPr>
              <a:defRPr/>
            </a:lvl1pPr>
          </a:lstStyle>
          <a:p>
            <a:pPr>
              <a:defRPr/>
            </a:pPr>
            <a:r>
              <a:rPr lang="en-US"/>
              <a:t>Second Review</a:t>
            </a:r>
          </a:p>
        </p:txBody>
      </p:sp>
      <p:sp>
        <p:nvSpPr>
          <p:cNvPr id="5" name="Rectangle 7">
            <a:extLst>
              <a:ext uri="{FF2B5EF4-FFF2-40B4-BE49-F238E27FC236}">
                <a16:creationId xmlns:a16="http://schemas.microsoft.com/office/drawing/2014/main" id="{FB63A9F3-AD04-ED6E-E628-12170F70CE75}"/>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01BD68DD-46F8-E148-C9DD-BDF1256D37AB}"/>
              </a:ext>
            </a:extLst>
          </p:cNvPr>
          <p:cNvSpPr>
            <a:spLocks noGrp="1" noChangeArrowheads="1"/>
          </p:cNvSpPr>
          <p:nvPr>
            <p:ph type="sldNum" sz="quarter" idx="12"/>
          </p:nvPr>
        </p:nvSpPr>
        <p:spPr>
          <a:ln/>
        </p:spPr>
        <p:txBody>
          <a:bodyPr/>
          <a:lstStyle>
            <a:lvl1pPr>
              <a:defRPr/>
            </a:lvl1pPr>
          </a:lstStyle>
          <a:p>
            <a:pPr>
              <a:defRPr/>
            </a:pPr>
            <a:fld id="{3031276A-AAE7-4DAF-B5DC-CD9EE96B703D}" type="slidenum">
              <a:rPr lang="en-US" altLang="en-US"/>
              <a:pPr>
                <a:defRPr/>
              </a:pPr>
              <a:t>‹#›</a:t>
            </a:fld>
            <a:endParaRPr lang="en-US" altLang="en-US"/>
          </a:p>
        </p:txBody>
      </p:sp>
    </p:spTree>
    <p:extLst>
      <p:ext uri="{BB962C8B-B14F-4D97-AF65-F5344CB8AC3E}">
        <p14:creationId xmlns:p14="http://schemas.microsoft.com/office/powerpoint/2010/main" val="2788195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AD52653-E1AE-07CB-DCC9-CD2593D84EFE}"/>
              </a:ext>
            </a:extLst>
          </p:cNvPr>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BB93799-0450-059C-B337-0FA5C4C3731F}"/>
              </a:ext>
            </a:extLst>
          </p:cNvPr>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a:extLst>
              <a:ext uri="{FF2B5EF4-FFF2-40B4-BE49-F238E27FC236}">
                <a16:creationId xmlns:a16="http://schemas.microsoft.com/office/drawing/2014/main" id="{6B43BBB4-1099-054A-DDAC-B357DD3DA511}"/>
              </a:ext>
            </a:extLst>
          </p:cNvPr>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1029" name="Line 5">
            <a:extLst>
              <a:ext uri="{FF2B5EF4-FFF2-40B4-BE49-F238E27FC236}">
                <a16:creationId xmlns:a16="http://schemas.microsoft.com/office/drawing/2014/main" id="{986B2119-A42B-45B1-6DCF-EF7CC29004DD}"/>
              </a:ext>
            </a:extLst>
          </p:cNvPr>
          <p:cNvSpPr>
            <a:spLocks noChangeShapeType="1"/>
          </p:cNvSpPr>
          <p:nvPr/>
        </p:nvSpPr>
        <p:spPr bwMode="auto">
          <a:xfrm flipV="1">
            <a:off x="812800" y="6172200"/>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800"/>
          </a:p>
        </p:txBody>
      </p:sp>
      <p:sp>
        <p:nvSpPr>
          <p:cNvPr id="4102" name="Rectangle 6">
            <a:extLst>
              <a:ext uri="{FF2B5EF4-FFF2-40B4-BE49-F238E27FC236}">
                <a16:creationId xmlns:a16="http://schemas.microsoft.com/office/drawing/2014/main" id="{6C6B070B-4AFE-871D-87ED-86092999D2D8}"/>
              </a:ext>
            </a:extLst>
          </p:cNvPr>
          <p:cNvSpPr>
            <a:spLocks noGrp="1" noChangeArrowheads="1"/>
          </p:cNvSpPr>
          <p:nvPr>
            <p:ph type="dt" sz="half" idx="2"/>
          </p:nvPr>
        </p:nvSpPr>
        <p:spPr bwMode="auto">
          <a:xfrm>
            <a:off x="8128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mn-cs"/>
              </a:defRPr>
            </a:lvl1pPr>
          </a:lstStyle>
          <a:p>
            <a:pPr>
              <a:defRPr/>
            </a:pPr>
            <a:r>
              <a:rPr lang="en-US"/>
              <a:t>Second Review</a:t>
            </a:r>
          </a:p>
        </p:txBody>
      </p:sp>
      <p:sp>
        <p:nvSpPr>
          <p:cNvPr id="4103" name="Rectangle 7">
            <a:extLst>
              <a:ext uri="{FF2B5EF4-FFF2-40B4-BE49-F238E27FC236}">
                <a16:creationId xmlns:a16="http://schemas.microsoft.com/office/drawing/2014/main" id="{FA33AF8B-6600-80BC-AB7A-98E95CF9D742}"/>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cs typeface="+mn-cs"/>
              </a:defRPr>
            </a:lvl1pPr>
          </a:lstStyle>
          <a:p>
            <a:pPr>
              <a:defRPr/>
            </a:pPr>
            <a:r>
              <a:rPr lang="en-US"/>
              <a:t>Department of Computer Science and Engineering</a:t>
            </a:r>
          </a:p>
        </p:txBody>
      </p:sp>
      <p:sp>
        <p:nvSpPr>
          <p:cNvPr id="4104" name="Rectangle 8">
            <a:extLst>
              <a:ext uri="{FF2B5EF4-FFF2-40B4-BE49-F238E27FC236}">
                <a16:creationId xmlns:a16="http://schemas.microsoft.com/office/drawing/2014/main" id="{1BD9409A-4B38-651E-F54D-ABAB5C4CEBAD}"/>
              </a:ext>
            </a:extLst>
          </p:cNvPr>
          <p:cNvSpPr>
            <a:spLocks noGrp="1" noChangeArrowheads="1"/>
          </p:cNvSpPr>
          <p:nvPr>
            <p:ph type="sldNum" sz="quarter" idx="4"/>
          </p:nvPr>
        </p:nvSpPr>
        <p:spPr bwMode="auto">
          <a:xfrm>
            <a:off x="87376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756AFA5A-A15D-402B-9810-66A481E98194}" type="slidenum">
              <a:rPr lang="en-US" altLang="en-US"/>
              <a:pPr>
                <a:defRPr/>
              </a:pPr>
              <a:t>‹#›</a:t>
            </a:fld>
            <a:endParaRPr lang="en-US" altLang="en-US"/>
          </a:p>
        </p:txBody>
      </p:sp>
    </p:spTree>
    <p:extLst>
      <p:ext uri="{BB962C8B-B14F-4D97-AF65-F5344CB8AC3E}">
        <p14:creationId xmlns:p14="http://schemas.microsoft.com/office/powerpoint/2010/main" val="1120801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41A2FBB-F55B-9BAA-4EBD-7D6AD7B1D9C0}"/>
              </a:ext>
            </a:extLst>
          </p:cNvPr>
          <p:cNvSpPr txBox="1">
            <a:spLocks/>
          </p:cNvSpPr>
          <p:nvPr/>
        </p:nvSpPr>
        <p:spPr>
          <a:xfrm>
            <a:off x="789712" y="2487168"/>
            <a:ext cx="10515600" cy="1737360"/>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b="1" dirty="0">
                <a:solidFill>
                  <a:srgbClr val="7030A0"/>
                </a:solidFill>
                <a:latin typeface="Times New Roman" panose="02020603050405020304" pitchFamily="18" charset="0"/>
                <a:ea typeface="+mn-ea"/>
                <a:cs typeface="Times New Roman" panose="02020603050405020304" pitchFamily="18" charset="0"/>
              </a:rPr>
              <a:t>Ambient Social Media Forensics</a:t>
            </a:r>
          </a:p>
          <a:p>
            <a:r>
              <a:rPr lang="en-IN" sz="3200" b="1" dirty="0">
                <a:solidFill>
                  <a:srgbClr val="7030A0"/>
                </a:solidFill>
                <a:latin typeface="Times New Roman" panose="02020603050405020304" pitchFamily="18" charset="0"/>
                <a:ea typeface="+mn-ea"/>
                <a:cs typeface="Times New Roman" panose="02020603050405020304" pitchFamily="18" charset="0"/>
              </a:rPr>
              <a:t>Using Federated Learning: A Privacy-Preserving Framework for Evidence Collection and Chain of Custody</a:t>
            </a:r>
          </a:p>
        </p:txBody>
      </p:sp>
      <p:sp>
        <p:nvSpPr>
          <p:cNvPr id="10" name="TextBox 1">
            <a:extLst>
              <a:ext uri="{FF2B5EF4-FFF2-40B4-BE49-F238E27FC236}">
                <a16:creationId xmlns:a16="http://schemas.microsoft.com/office/drawing/2014/main" id="{2D19DAE3-8F95-230C-D485-225341D07DA1}"/>
              </a:ext>
            </a:extLst>
          </p:cNvPr>
          <p:cNvSpPr txBox="1">
            <a:spLocks noChangeArrowheads="1"/>
          </p:cNvSpPr>
          <p:nvPr/>
        </p:nvSpPr>
        <p:spPr bwMode="auto">
          <a:xfrm>
            <a:off x="963531" y="4581128"/>
            <a:ext cx="3404277"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400" b="1" dirty="0">
                <a:solidFill>
                  <a:srgbClr val="FF0000"/>
                </a:solidFill>
                <a:latin typeface="Times New Roman" panose="02020603050405020304" pitchFamily="18" charset="0"/>
                <a:cs typeface="Times New Roman" panose="02020603050405020304" pitchFamily="18" charset="0"/>
              </a:rPr>
              <a:t>Dr. D. Sivakumar</a:t>
            </a:r>
          </a:p>
          <a:p>
            <a:pPr>
              <a:spcBef>
                <a:spcPct val="0"/>
              </a:spcBef>
              <a:buClrTx/>
              <a:buFontTx/>
              <a:buNone/>
            </a:pPr>
            <a:r>
              <a:rPr lang="en-IN" altLang="en-US" sz="2400" b="1" dirty="0">
                <a:solidFill>
                  <a:srgbClr val="FF0000"/>
                </a:solidFill>
                <a:latin typeface="Times New Roman" panose="02020603050405020304" pitchFamily="18" charset="0"/>
                <a:cs typeface="Times New Roman" panose="02020603050405020304" pitchFamily="18" charset="0"/>
              </a:rPr>
              <a:t>Professor</a:t>
            </a:r>
          </a:p>
          <a:p>
            <a:pPr>
              <a:spcBef>
                <a:spcPct val="0"/>
              </a:spcBef>
              <a:buClrTx/>
              <a:buFontTx/>
              <a:buNone/>
            </a:pPr>
            <a:r>
              <a:rPr lang="en-IN" altLang="en-US" sz="2400" b="1" dirty="0">
                <a:solidFill>
                  <a:srgbClr val="FF0000"/>
                </a:solidFill>
                <a:latin typeface="Times New Roman" panose="02020603050405020304" pitchFamily="18" charset="0"/>
                <a:cs typeface="Times New Roman" panose="02020603050405020304" pitchFamily="18" charset="0"/>
              </a:rPr>
              <a:t>Department of Cyber security</a:t>
            </a:r>
          </a:p>
        </p:txBody>
      </p:sp>
      <p:sp>
        <p:nvSpPr>
          <p:cNvPr id="11" name="TextBox 1">
            <a:extLst>
              <a:ext uri="{FF2B5EF4-FFF2-40B4-BE49-F238E27FC236}">
                <a16:creationId xmlns:a16="http://schemas.microsoft.com/office/drawing/2014/main" id="{19A39F01-D00C-AF01-020F-6FE15F5B4206}"/>
              </a:ext>
            </a:extLst>
          </p:cNvPr>
          <p:cNvSpPr txBox="1">
            <a:spLocks noChangeArrowheads="1"/>
          </p:cNvSpPr>
          <p:nvPr/>
        </p:nvSpPr>
        <p:spPr bwMode="auto">
          <a:xfrm>
            <a:off x="8256240" y="4581128"/>
            <a:ext cx="3505200"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spcBef>
                <a:spcPct val="0"/>
              </a:spcBef>
              <a:buClrTx/>
              <a:buFontTx/>
              <a:buNone/>
            </a:pPr>
            <a:r>
              <a:rPr lang="en-IN" altLang="en-US" sz="2400" b="1" dirty="0">
                <a:solidFill>
                  <a:srgbClr val="FF0000"/>
                </a:solidFill>
                <a:latin typeface="Times New Roman" panose="02020603050405020304" pitchFamily="18" charset="0"/>
                <a:cs typeface="Times New Roman" panose="02020603050405020304" pitchFamily="18" charset="0"/>
              </a:rPr>
              <a:t>Ram Haygrev S</a:t>
            </a:r>
          </a:p>
          <a:p>
            <a:pPr>
              <a:spcBef>
                <a:spcPct val="0"/>
              </a:spcBef>
              <a:buClrTx/>
              <a:buFontTx/>
              <a:buNone/>
            </a:pPr>
            <a:r>
              <a:rPr lang="en-IN" altLang="en-US" sz="2400" b="1" dirty="0">
                <a:solidFill>
                  <a:srgbClr val="FF0000"/>
                </a:solidFill>
                <a:latin typeface="Times New Roman" panose="02020603050405020304" pitchFamily="18" charset="0"/>
                <a:cs typeface="Times New Roman" panose="02020603050405020304" pitchFamily="18" charset="0"/>
              </a:rPr>
              <a:t>(231901039)</a:t>
            </a:r>
          </a:p>
          <a:p>
            <a:pPr>
              <a:spcBef>
                <a:spcPct val="0"/>
              </a:spcBef>
              <a:buClrTx/>
              <a:buFontTx/>
              <a:buNone/>
            </a:pPr>
            <a:r>
              <a:rPr lang="en-IN" altLang="en-US" sz="2400" b="1" dirty="0">
                <a:solidFill>
                  <a:srgbClr val="FF0000"/>
                </a:solidFill>
                <a:latin typeface="Times New Roman" panose="02020603050405020304" pitchFamily="18" charset="0"/>
                <a:cs typeface="Times New Roman" panose="02020603050405020304" pitchFamily="18" charset="0"/>
              </a:rPr>
              <a:t>Venselvam V</a:t>
            </a:r>
          </a:p>
          <a:p>
            <a:pPr>
              <a:spcBef>
                <a:spcPct val="0"/>
              </a:spcBef>
              <a:buClrTx/>
              <a:buFontTx/>
              <a:buNone/>
            </a:pPr>
            <a:r>
              <a:rPr lang="en-IN" altLang="en-US" sz="2400" b="1" dirty="0">
                <a:solidFill>
                  <a:srgbClr val="FF0000"/>
                </a:solidFill>
                <a:latin typeface="Times New Roman" panose="02020603050405020304" pitchFamily="18" charset="0"/>
                <a:cs typeface="Times New Roman" panose="02020603050405020304" pitchFamily="18" charset="0"/>
              </a:rPr>
              <a:t>(231901061)</a:t>
            </a:r>
          </a:p>
        </p:txBody>
      </p:sp>
      <p:sp>
        <p:nvSpPr>
          <p:cNvPr id="15" name="Title 1">
            <a:extLst>
              <a:ext uri="{FF2B5EF4-FFF2-40B4-BE49-F238E27FC236}">
                <a16:creationId xmlns:a16="http://schemas.microsoft.com/office/drawing/2014/main" id="{321851EC-AC90-1CBE-0738-0329685AB2AB}"/>
              </a:ext>
            </a:extLst>
          </p:cNvPr>
          <p:cNvSpPr txBox="1">
            <a:spLocks/>
          </p:cNvSpPr>
          <p:nvPr/>
        </p:nvSpPr>
        <p:spPr>
          <a:xfrm>
            <a:off x="754333" y="980728"/>
            <a:ext cx="10515600" cy="722457"/>
          </a:xfrm>
          <a:prstGeom prst="rect">
            <a:avLst/>
          </a:prstGeom>
        </p:spPr>
        <p:txBody>
          <a:bodyPr vert="horz" lIns="91440" tIns="45720" rIns="91440" bIns="45720" rtlCol="0" anchor="ctr">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rgbClr val="002060"/>
                </a:solidFill>
                <a:latin typeface="Verdana" panose="020B0604030504040204" pitchFamily="34" charset="0"/>
                <a:ea typeface="+mn-ea"/>
                <a:cs typeface="+mn-cs"/>
              </a:rPr>
              <a:t>Department of Computer Science and Engineering</a:t>
            </a:r>
          </a:p>
          <a:p>
            <a:r>
              <a:rPr lang="en-IN" sz="2800" b="1" dirty="0">
                <a:solidFill>
                  <a:srgbClr val="002060"/>
                </a:solidFill>
                <a:latin typeface="Verdana" panose="020B0604030504040204" pitchFamily="34" charset="0"/>
                <a:ea typeface="+mn-ea"/>
                <a:cs typeface="+mn-cs"/>
              </a:rPr>
              <a:t>(Cyber Security)</a:t>
            </a:r>
          </a:p>
          <a:p>
            <a:endParaRPr lang="en-IN" sz="2800" b="1" dirty="0">
              <a:solidFill>
                <a:srgbClr val="002060"/>
              </a:solidFill>
              <a:latin typeface="Verdana" panose="020B0604030504040204" pitchFamily="34" charset="0"/>
              <a:ea typeface="+mn-ea"/>
              <a:cs typeface="+mn-cs"/>
            </a:endParaRPr>
          </a:p>
        </p:txBody>
      </p:sp>
      <p:pic>
        <p:nvPicPr>
          <p:cNvPr id="12" name="Picture 11" descr="C:\Users\REC\Downloads\REC_Logo_Color_PNG_RGB.png"/>
          <p:cNvPicPr/>
          <p:nvPr/>
        </p:nvPicPr>
        <p:blipFill>
          <a:blip r:embed="rId5">
            <a:extLst>
              <a:ext uri="{28A0092B-C50C-407E-A947-70E740481C1C}">
                <a14:useLocalDpi xmlns:a14="http://schemas.microsoft.com/office/drawing/2010/main" val="0"/>
              </a:ext>
            </a:extLst>
          </a:blip>
          <a:srcRect/>
          <a:stretch>
            <a:fillRect/>
          </a:stretch>
        </p:blipFill>
        <p:spPr bwMode="auto">
          <a:xfrm>
            <a:off x="119336" y="-65874"/>
            <a:ext cx="2933065" cy="980728"/>
          </a:xfrm>
          <a:prstGeom prst="rect">
            <a:avLst/>
          </a:prstGeom>
          <a:noFill/>
          <a:ln>
            <a:noFill/>
          </a:ln>
        </p:spPr>
      </p:pic>
      <p:sp>
        <p:nvSpPr>
          <p:cNvPr id="2" name="Rectangle 1"/>
          <p:cNvSpPr/>
          <p:nvPr/>
        </p:nvSpPr>
        <p:spPr>
          <a:xfrm>
            <a:off x="3359696" y="1470356"/>
            <a:ext cx="5485797" cy="461665"/>
          </a:xfrm>
          <a:prstGeom prst="rect">
            <a:avLst/>
          </a:prstGeom>
        </p:spPr>
        <p:txBody>
          <a:bodyPr wrap="none">
            <a:spAutoFit/>
          </a:bodyPr>
          <a:lstStyle/>
          <a:p>
            <a:r>
              <a:rPr lang="en-IN" sz="2400" b="1" dirty="0">
                <a:solidFill>
                  <a:srgbClr val="C00000"/>
                </a:solidFill>
                <a:latin typeface="Verdana" panose="020B0604030504040204" pitchFamily="34" charset="0"/>
              </a:rPr>
              <a:t>Phase I – Project Presentation</a:t>
            </a:r>
          </a:p>
        </p:txBody>
      </p:sp>
      <p:sp>
        <p:nvSpPr>
          <p:cNvPr id="3" name="Rectangle 2"/>
          <p:cNvSpPr/>
          <p:nvPr/>
        </p:nvSpPr>
        <p:spPr>
          <a:xfrm>
            <a:off x="4873101" y="1916832"/>
            <a:ext cx="1603324" cy="369332"/>
          </a:xfrm>
          <a:prstGeom prst="rect">
            <a:avLst/>
          </a:prstGeom>
        </p:spPr>
        <p:txBody>
          <a:bodyPr wrap="none">
            <a:spAutoFit/>
          </a:bodyPr>
          <a:lstStyle/>
          <a:p>
            <a:r>
              <a:rPr lang="en-IN" b="1" dirty="0">
                <a:solidFill>
                  <a:srgbClr val="002060"/>
                </a:solidFill>
                <a:latin typeface="Verdana" panose="020B0604030504040204" pitchFamily="34" charset="0"/>
              </a:rPr>
              <a:t>2026-2027</a:t>
            </a:r>
            <a:endParaRPr lang="en-IN" dirty="0"/>
          </a:p>
        </p:txBody>
      </p:sp>
    </p:spTree>
    <p:extLst>
      <p:ext uri="{BB962C8B-B14F-4D97-AF65-F5344CB8AC3E}">
        <p14:creationId xmlns:p14="http://schemas.microsoft.com/office/powerpoint/2010/main" val="4233139276"/>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5A9F1D-8FB2-BB70-5954-D30B5BD088B1}"/>
              </a:ext>
            </a:extLst>
          </p:cNvPr>
          <p:cNvSpPr>
            <a:spLocks noGrp="1"/>
          </p:cNvSpPr>
          <p:nvPr>
            <p:ph idx="1"/>
          </p:nvPr>
        </p:nvSpPr>
        <p:spPr>
          <a:xfrm>
            <a:off x="711200" y="1978025"/>
            <a:ext cx="10668000" cy="4267200"/>
          </a:xfrm>
        </p:spPr>
        <p:txBody>
          <a:bodyPr/>
          <a:lstStyle/>
          <a:p>
            <a:r>
              <a:rPr lang="en-US" sz="2600" dirty="0">
                <a:latin typeface="Times New Roman" panose="02020603050405020304" pitchFamily="18" charset="0"/>
                <a:cs typeface="Times New Roman" panose="02020603050405020304" pitchFamily="18" charset="0"/>
              </a:rPr>
              <a:t>Social media posts, comments and images can support investigations of harassment, fraud and threats. This evidence is volatile: content may be edited or deleted before investigators preserve it. ASMF combines ambient collection, lossless preservation, SHA-256 verification and a traceable custody history. Federated learning trains a shared screening model while raw evidence stays at its source. Investigators review model predictions and record their own conclusions.</a:t>
            </a:r>
            <a:endParaRPr lang="en-IN" sz="24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41AE1BA-969E-541C-4CD9-39AF6ABEEDF3}"/>
              </a:ext>
            </a:extLst>
          </p:cNvPr>
          <p:cNvSpPr>
            <a:spLocks noGrp="1"/>
          </p:cNvSpPr>
          <p:nvPr>
            <p:ph type="dt" sz="half" idx="10"/>
          </p:nvPr>
        </p:nvSpPr>
        <p:spPr/>
        <p:txBody>
          <a:bodyPr/>
          <a:lstStyle/>
          <a:p>
            <a:pPr>
              <a:defRPr/>
            </a:pPr>
            <a:r>
              <a:rPr lang="en-US"/>
              <a:t>Second Review</a:t>
            </a:r>
          </a:p>
        </p:txBody>
      </p:sp>
      <p:sp>
        <p:nvSpPr>
          <p:cNvPr id="5" name="Footer Placeholder 4">
            <a:extLst>
              <a:ext uri="{FF2B5EF4-FFF2-40B4-BE49-F238E27FC236}">
                <a16:creationId xmlns:a16="http://schemas.microsoft.com/office/drawing/2014/main" id="{CE7B6FE0-5A24-B292-EE9E-B78D8FA0D6EE}"/>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6B8D726C-100A-5D96-527E-FAD51C84F340}"/>
              </a:ext>
            </a:extLst>
          </p:cNvPr>
          <p:cNvSpPr>
            <a:spLocks noGrp="1"/>
          </p:cNvSpPr>
          <p:nvPr>
            <p:ph type="sldNum" sz="quarter" idx="12"/>
          </p:nvPr>
        </p:nvSpPr>
        <p:spPr/>
        <p:txBody>
          <a:bodyPr/>
          <a:lstStyle/>
          <a:p>
            <a:pPr>
              <a:defRPr/>
            </a:pPr>
            <a:fld id="{BDC2143B-610F-499C-A392-DFFBE135A7B2}" type="slidenum">
              <a:rPr lang="en-US" altLang="en-US" smtClean="0"/>
              <a:pPr>
                <a:defRPr/>
              </a:pPr>
              <a:t>2</a:t>
            </a:fld>
            <a:endParaRPr lang="en-US" altLang="en-US"/>
          </a:p>
        </p:txBody>
      </p:sp>
      <p:sp>
        <p:nvSpPr>
          <p:cNvPr id="7" name="Title 1">
            <a:extLst>
              <a:ext uri="{FF2B5EF4-FFF2-40B4-BE49-F238E27FC236}">
                <a16:creationId xmlns:a16="http://schemas.microsoft.com/office/drawing/2014/main" id="{244BAADB-51B9-272E-6179-F0358BD8A8CD}"/>
              </a:ext>
            </a:extLst>
          </p:cNvPr>
          <p:cNvSpPr>
            <a:spLocks noGrp="1"/>
          </p:cNvSpPr>
          <p:nvPr>
            <p:ph type="title"/>
          </p:nvPr>
        </p:nvSpPr>
        <p:spPr>
          <a:xfrm>
            <a:off x="755651" y="341241"/>
            <a:ext cx="10668000" cy="1216025"/>
          </a:xfrm>
        </p:spPr>
        <p:txBody>
          <a:bodyPr/>
          <a:lstStyle/>
          <a:p>
            <a:r>
              <a:rPr lang="en-IN" altLang="en-US" sz="3200" b="1" dirty="0">
                <a:solidFill>
                  <a:srgbClr val="FF0000"/>
                </a:solidFill>
              </a:rPr>
              <a:t>Introduction</a:t>
            </a:r>
            <a:endParaRPr lang="en-IN" sz="2800" dirty="0"/>
          </a:p>
        </p:txBody>
      </p:sp>
    </p:spTree>
    <p:extLst>
      <p:ext uri="{BB962C8B-B14F-4D97-AF65-F5344CB8AC3E}">
        <p14:creationId xmlns:p14="http://schemas.microsoft.com/office/powerpoint/2010/main" val="20956479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94F1E497-5303-5D70-335C-34CF27874B26}"/>
              </a:ext>
            </a:extLst>
          </p:cNvPr>
          <p:cNvGraphicFramePr>
            <a:graphicFrameLocks noGrp="1"/>
          </p:cNvGraphicFramePr>
          <p:nvPr>
            <p:ph idx="1"/>
            <p:extLst>
              <p:ext uri="{D42A27DB-BD31-4B8C-83A1-F6EECF244321}">
                <p14:modId xmlns:p14="http://schemas.microsoft.com/office/powerpoint/2010/main" val="4146038184"/>
              </p:ext>
            </p:extLst>
          </p:nvPr>
        </p:nvGraphicFramePr>
        <p:xfrm>
          <a:off x="755650" y="2011680"/>
          <a:ext cx="10668000" cy="2926080"/>
        </p:xfrm>
        <a:graphic>
          <a:graphicData uri="http://schemas.openxmlformats.org/drawingml/2006/table">
            <a:tbl>
              <a:tblPr>
                <a:tableStyleId>{2D5ABB26-0587-4C30-8999-92F81FD0307C}</a:tableStyleId>
              </a:tblPr>
              <a:tblGrid>
                <a:gridCol w="3556000">
                  <a:extLst>
                    <a:ext uri="{9D8B030D-6E8A-4147-A177-3AD203B41FA5}">
                      <a16:colId xmlns:a16="http://schemas.microsoft.com/office/drawing/2014/main" val="2072887057"/>
                    </a:ext>
                  </a:extLst>
                </a:gridCol>
                <a:gridCol w="3556000">
                  <a:extLst>
                    <a:ext uri="{9D8B030D-6E8A-4147-A177-3AD203B41FA5}">
                      <a16:colId xmlns:a16="http://schemas.microsoft.com/office/drawing/2014/main" val="3641522463"/>
                    </a:ext>
                  </a:extLst>
                </a:gridCol>
                <a:gridCol w="3556000">
                  <a:extLst>
                    <a:ext uri="{9D8B030D-6E8A-4147-A177-3AD203B41FA5}">
                      <a16:colId xmlns:a16="http://schemas.microsoft.com/office/drawing/2014/main" val="2208529924"/>
                    </a:ext>
                  </a:extLst>
                </a:gridCol>
              </a:tblGrid>
              <a:tr h="0">
                <a:tc>
                  <a:txBody>
                    <a:bodyPr/>
                    <a:lstStyle/>
                    <a:p>
                      <a:pPr>
                        <a:buNone/>
                      </a:pPr>
                      <a:r>
                        <a:rPr lang="en-IN" dirty="0">
                          <a:latin typeface="Times New Roman" panose="02020603050405020304" pitchFamily="18" charset="0"/>
                          <a:cs typeface="Times New Roman" panose="02020603050405020304" pitchFamily="18" charset="0"/>
                        </a:rPr>
                        <a:t>Paper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a:latin typeface="Times New Roman" panose="02020603050405020304" pitchFamily="18" charset="0"/>
                          <a:cs typeface="Times New Roman" panose="02020603050405020304" pitchFamily="18" charset="0"/>
                        </a:rPr>
                        <a:t>Main Contribution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latin typeface="Times New Roman" panose="02020603050405020304" pitchFamily="18" charset="0"/>
                          <a:cs typeface="Times New Roman" panose="02020603050405020304" pitchFamily="18" charset="0"/>
                        </a:rPr>
                        <a:t>Research Gap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8205590"/>
                  </a:ext>
                </a:extLst>
              </a:tr>
              <a:tr h="0">
                <a:tc>
                  <a:txBody>
                    <a:bodyPr/>
                    <a:lstStyle/>
                    <a:p>
                      <a:pPr>
                        <a:buNone/>
                      </a:pPr>
                      <a:r>
                        <a:rPr lang="en-IN" b="1">
                          <a:latin typeface="Times New Roman" panose="02020603050405020304" pitchFamily="18" charset="0"/>
                          <a:cs typeface="Times New Roman" panose="02020603050405020304" pitchFamily="18" charset="0"/>
                        </a:rPr>
                        <a:t>Khan et al. (2024) - Base Paper</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latin typeface="Times New Roman" panose="02020603050405020304" pitchFamily="18" charset="0"/>
                          <a:cs typeface="Times New Roman" panose="02020603050405020304" pitchFamily="18" charset="0"/>
                        </a:rPr>
                        <a:t>Ambient collection, FL and social media custody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atin typeface="Times New Roman" panose="02020603050405020304" pitchFamily="18" charset="0"/>
                          <a:cs typeface="Times New Roman" panose="02020603050405020304" pitchFamily="18" charset="0"/>
                        </a:rPr>
                        <a:t>Ledger coupled to learning, with no repeatable evaluation plan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8681309"/>
                  </a:ext>
                </a:extLst>
              </a:tr>
              <a:tr h="0">
                <a:tc>
                  <a:txBody>
                    <a:bodyPr/>
                    <a:lstStyle/>
                    <a:p>
                      <a:pPr>
                        <a:buNone/>
                      </a:pPr>
                      <a:r>
                        <a:rPr lang="en-IN" b="1">
                          <a:latin typeface="Times New Roman" panose="02020603050405020304" pitchFamily="18" charset="0"/>
                          <a:cs typeface="Times New Roman" panose="02020603050405020304" pitchFamily="18" charset="0"/>
                        </a:rPr>
                        <a:t>McMahan et al. (2017)</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atin typeface="Times New Roman" panose="02020603050405020304" pitchFamily="18" charset="0"/>
                          <a:cs typeface="Times New Roman" panose="02020603050405020304" pitchFamily="18" charset="0"/>
                        </a:rPr>
                        <a:t>Federated averaging on decentralized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atin typeface="Times New Roman" panose="02020603050405020304" pitchFamily="18" charset="0"/>
                          <a:cs typeface="Times New Roman" panose="02020603050405020304" pitchFamily="18" charset="0"/>
                        </a:rPr>
                        <a:t>Does not address evidence preservation or custody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3335625"/>
                  </a:ext>
                </a:extLst>
              </a:tr>
              <a:tr h="0">
                <a:tc>
                  <a:txBody>
                    <a:bodyPr/>
                    <a:lstStyle/>
                    <a:p>
                      <a:pPr>
                        <a:buNone/>
                      </a:pPr>
                      <a:r>
                        <a:rPr lang="en-IN" b="1">
                          <a:latin typeface="Times New Roman" panose="02020603050405020304" pitchFamily="18" charset="0"/>
                          <a:cs typeface="Times New Roman" panose="02020603050405020304" pitchFamily="18" charset="0"/>
                        </a:rPr>
                        <a:t>Miao et al. (2022)</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latin typeface="Times New Roman" panose="02020603050405020304" pitchFamily="18" charset="0"/>
                          <a:cs typeface="Times New Roman" panose="02020603050405020304" pitchFamily="18" charset="0"/>
                        </a:rPr>
                        <a:t>Byzantine-robust FL through blockchain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a:latin typeface="Times New Roman" panose="02020603050405020304" pitchFamily="18" charset="0"/>
                          <a:cs typeface="Times New Roman" panose="02020603050405020304" pitchFamily="18" charset="0"/>
                        </a:rPr>
                        <a:t>General training, rather than forensic evidence handling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0651360"/>
                  </a:ext>
                </a:extLst>
              </a:tr>
              <a:tr h="0">
                <a:tc>
                  <a:txBody>
                    <a:bodyPr/>
                    <a:lstStyle/>
                    <a:p>
                      <a:pPr>
                        <a:buNone/>
                      </a:pPr>
                      <a:r>
                        <a:rPr lang="en-IN" b="1">
                          <a:latin typeface="Times New Roman" panose="02020603050405020304" pitchFamily="18" charset="0"/>
                          <a:cs typeface="Times New Roman" panose="02020603050405020304" pitchFamily="18" charset="0"/>
                        </a:rPr>
                        <a:t>Khanji et al. (2022)</a:t>
                      </a:r>
                      <a:endParaRPr lang="en-IN">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latin typeface="Times New Roman" panose="02020603050405020304" pitchFamily="18" charset="0"/>
                          <a:cs typeface="Times New Roman" panose="02020603050405020304" pitchFamily="18" charset="0"/>
                        </a:rPr>
                        <a:t>Blockchain readiness in IoT forensics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dirty="0">
                          <a:latin typeface="Times New Roman" panose="02020603050405020304" pitchFamily="18" charset="0"/>
                          <a:cs typeface="Times New Roman" panose="02020603050405020304" pitchFamily="18" charset="0"/>
                        </a:rPr>
                        <a:t>Does not cover social media evidence or learning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258606"/>
                  </a:ext>
                </a:extLst>
              </a:tr>
            </a:tbl>
          </a:graphicData>
        </a:graphic>
      </p:graphicFrame>
      <p:sp>
        <p:nvSpPr>
          <p:cNvPr id="4" name="Date Placeholder 3">
            <a:extLst>
              <a:ext uri="{FF2B5EF4-FFF2-40B4-BE49-F238E27FC236}">
                <a16:creationId xmlns:a16="http://schemas.microsoft.com/office/drawing/2014/main" id="{DDF9A436-FEFF-D319-C3C6-08D44CA7D4E3}"/>
              </a:ext>
            </a:extLst>
          </p:cNvPr>
          <p:cNvSpPr>
            <a:spLocks noGrp="1"/>
          </p:cNvSpPr>
          <p:nvPr>
            <p:ph type="dt" sz="half" idx="10"/>
          </p:nvPr>
        </p:nvSpPr>
        <p:spPr/>
        <p:txBody>
          <a:bodyPr/>
          <a:lstStyle/>
          <a:p>
            <a:pPr>
              <a:defRPr/>
            </a:pPr>
            <a:r>
              <a:rPr lang="en-US"/>
              <a:t>Second Review</a:t>
            </a:r>
          </a:p>
        </p:txBody>
      </p:sp>
      <p:sp>
        <p:nvSpPr>
          <p:cNvPr id="5" name="Footer Placeholder 4">
            <a:extLst>
              <a:ext uri="{FF2B5EF4-FFF2-40B4-BE49-F238E27FC236}">
                <a16:creationId xmlns:a16="http://schemas.microsoft.com/office/drawing/2014/main" id="{049E8DAC-1215-A5E5-8588-460E17CE64C7}"/>
              </a:ext>
            </a:extLst>
          </p:cNvPr>
          <p:cNvSpPr>
            <a:spLocks noGrp="1"/>
          </p:cNvSpPr>
          <p:nvPr>
            <p:ph type="ftr" sz="quarter" idx="11"/>
          </p:nvPr>
        </p:nvSpPr>
        <p:spPr/>
        <p:txBody>
          <a:bodyPr/>
          <a:lstStyle/>
          <a:p>
            <a:pPr>
              <a:defRPr/>
            </a:pPr>
            <a:r>
              <a:rPr lang="en-US"/>
              <a:t>Department of Computer Science and Engineering</a:t>
            </a:r>
          </a:p>
        </p:txBody>
      </p:sp>
      <p:sp>
        <p:nvSpPr>
          <p:cNvPr id="6" name="Slide Number Placeholder 5">
            <a:extLst>
              <a:ext uri="{FF2B5EF4-FFF2-40B4-BE49-F238E27FC236}">
                <a16:creationId xmlns:a16="http://schemas.microsoft.com/office/drawing/2014/main" id="{6D2B4F62-FBC4-8DB4-7164-A42319BF8C28}"/>
              </a:ext>
            </a:extLst>
          </p:cNvPr>
          <p:cNvSpPr>
            <a:spLocks noGrp="1"/>
          </p:cNvSpPr>
          <p:nvPr>
            <p:ph type="sldNum" sz="quarter" idx="12"/>
          </p:nvPr>
        </p:nvSpPr>
        <p:spPr/>
        <p:txBody>
          <a:bodyPr/>
          <a:lstStyle/>
          <a:p>
            <a:pPr>
              <a:defRPr/>
            </a:pPr>
            <a:fld id="{BDC2143B-610F-499C-A392-DFFBE135A7B2}" type="slidenum">
              <a:rPr lang="en-US" altLang="en-US" smtClean="0"/>
              <a:pPr>
                <a:defRPr/>
              </a:pPr>
              <a:t>3</a:t>
            </a:fld>
            <a:endParaRPr lang="en-US" altLang="en-US"/>
          </a:p>
        </p:txBody>
      </p:sp>
      <p:sp>
        <p:nvSpPr>
          <p:cNvPr id="7" name="Title 1">
            <a:extLst>
              <a:ext uri="{FF2B5EF4-FFF2-40B4-BE49-F238E27FC236}">
                <a16:creationId xmlns:a16="http://schemas.microsoft.com/office/drawing/2014/main" id="{A8DA2620-246E-AA67-B65C-69FFE2F9B01E}"/>
              </a:ext>
            </a:extLst>
          </p:cNvPr>
          <p:cNvSpPr>
            <a:spLocks noGrp="1"/>
          </p:cNvSpPr>
          <p:nvPr>
            <p:ph type="title"/>
          </p:nvPr>
        </p:nvSpPr>
        <p:spPr>
          <a:xfrm>
            <a:off x="766763" y="304800"/>
            <a:ext cx="10668000" cy="1216025"/>
          </a:xfrm>
        </p:spPr>
        <p:txBody>
          <a:bodyPr/>
          <a:lstStyle/>
          <a:p>
            <a:r>
              <a:rPr lang="en-IN" altLang="en-US" sz="3200" b="1" dirty="0">
                <a:solidFill>
                  <a:srgbClr val="FF0000"/>
                </a:solidFill>
              </a:rPr>
              <a:t>Literature Survey</a:t>
            </a:r>
            <a:endParaRPr lang="en-IN" sz="2800" dirty="0"/>
          </a:p>
        </p:txBody>
      </p:sp>
    </p:spTree>
    <p:extLst>
      <p:ext uri="{BB962C8B-B14F-4D97-AF65-F5344CB8AC3E}">
        <p14:creationId xmlns:p14="http://schemas.microsoft.com/office/powerpoint/2010/main" val="36749093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IN" altLang="en-US" sz="3200" b="1" dirty="0">
                <a:solidFill>
                  <a:srgbClr val="FF0000"/>
                </a:solidFill>
              </a:rPr>
              <a:t>Problem Statement and Motivation</a:t>
            </a:r>
            <a:endParaRPr lang="en-IN" sz="2800" dirty="0"/>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a:xfrm>
            <a:off x="758952" y="1691640"/>
            <a:ext cx="10661904" cy="1874519"/>
          </a:xfrm>
        </p:spPr>
        <p:txBody>
          <a:bodyPr/>
          <a:lstStyle/>
          <a:p>
            <a:r>
              <a:rPr lang="en-IN" sz="2400" b="0" i="0" dirty="0">
                <a:solidFill>
                  <a:srgbClr val="000000"/>
                </a:solidFill>
                <a:latin typeface="Times New Roman"/>
                <a:cs typeface="Times New Roman"/>
              </a:rPr>
              <a:t>Social media evidence can be edited or deleted before collection</a:t>
            </a:r>
          </a:p>
          <a:p>
            <a:r>
              <a:rPr lang="en-IN" sz="2400" b="0" i="0" dirty="0">
                <a:solidFill>
                  <a:srgbClr val="000000"/>
                </a:solidFill>
                <a:latin typeface="Times New Roman"/>
                <a:cs typeface="Times New Roman"/>
              </a:rPr>
              <a:t>Screenshots lack a verifiable link to the original source</a:t>
            </a:r>
          </a:p>
          <a:p>
            <a:r>
              <a:rPr lang="en-IN" sz="2400" b="0" i="0" dirty="0">
                <a:solidFill>
                  <a:srgbClr val="000000"/>
                </a:solidFill>
                <a:latin typeface="Times New Roman"/>
                <a:cs typeface="Times New Roman"/>
              </a:rPr>
              <a:t>Centralized training concentrates sensitive evidence in one place</a:t>
            </a:r>
          </a:p>
          <a:p>
            <a:r>
              <a:rPr lang="en-IN" sz="2400" b="0" i="0" dirty="0">
                <a:solidFill>
                  <a:srgbClr val="000000"/>
                </a:solidFill>
                <a:latin typeface="Times New Roman"/>
                <a:cs typeface="Times New Roman"/>
              </a:rPr>
              <a:t>Capture, analysis and custody often operate as separate workflows</a:t>
            </a:r>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4</a:t>
            </a:fld>
            <a:endParaRPr lang="en-IN" dirty="0"/>
          </a:p>
        </p:txBody>
      </p:sp>
      <p:sp>
        <p:nvSpPr>
          <p:cNvPr id="7" name="Existing systems card"/>
          <p:cNvSpPr/>
          <p:nvPr/>
        </p:nvSpPr>
        <p:spPr>
          <a:xfrm>
            <a:off x="859536" y="3730752"/>
            <a:ext cx="5074920" cy="2157984"/>
          </a:xfrm>
          <a:prstGeom prst="rect">
            <a:avLst/>
          </a:prstGeom>
          <a:noFill/>
          <a:ln w="12700">
            <a:solidFill>
              <a:srgbClr val="A6A6A6"/>
            </a:solidFill>
          </a:ln>
        </p:spPr>
        <p:txBody>
          <a:bodyPr wrap="square" lIns="146304" tIns="36576" rIns="146304" bIns="36576" rtlCol="0" anchor="ctr"/>
          <a:lstStyle/>
          <a:p>
            <a:pPr algn="l"/>
            <a:r>
              <a:rPr sz="1800" b="1" i="0">
                <a:solidFill>
                  <a:srgbClr val="002060"/>
                </a:solidFill>
                <a:latin typeface="Times New Roman"/>
              </a:rPr>
              <a:t>Existing forensic and learning approaches already support:</a:t>
            </a:r>
          </a:p>
          <a:p>
            <a:pPr algn="l">
              <a:spcBef>
                <a:spcPts val="600"/>
              </a:spcBef>
            </a:pPr>
            <a:r>
              <a:rPr sz="1800" b="0" i="0">
                <a:solidFill>
                  <a:srgbClr val="000000"/>
                </a:solidFill>
                <a:latin typeface="Times New Roman"/>
              </a:rPr>
              <a:t>Content screening, local training, evidence storage and custody logs. The gap is a consistent link between an exact artifact, its analysis and its handling history.</a:t>
            </a:r>
          </a:p>
        </p:txBody>
      </p:sp>
      <p:sp>
        <p:nvSpPr>
          <p:cNvPr id="8" name="Plus"/>
          <p:cNvSpPr/>
          <p:nvPr/>
        </p:nvSpPr>
        <p:spPr>
          <a:xfrm>
            <a:off x="5934456" y="4626864"/>
            <a:ext cx="365760" cy="365760"/>
          </a:xfrm>
          <a:prstGeom prst="ellipse">
            <a:avLst/>
          </a:prstGeom>
          <a:solidFill>
            <a:srgbClr val="C00000"/>
          </a:solidFill>
          <a:ln>
            <a:noFill/>
          </a:ln>
        </p:spPr>
        <p:txBody>
          <a:bodyPr wrap="square" lIns="0" tIns="0" rIns="0" bIns="0" rtlCol="0" anchor="ctr"/>
          <a:lstStyle/>
          <a:p>
            <a:pPr algn="ctr"/>
            <a:r>
              <a:rPr sz="2000" b="1" i="0">
                <a:solidFill>
                  <a:srgbClr val="FFFFFF"/>
                </a:solidFill>
                <a:latin typeface="Times New Roman"/>
              </a:rPr>
              <a:t>+</a:t>
            </a:r>
          </a:p>
        </p:txBody>
      </p:sp>
      <p:sp>
        <p:nvSpPr>
          <p:cNvPr id="9" name="Our project card"/>
          <p:cNvSpPr/>
          <p:nvPr/>
        </p:nvSpPr>
        <p:spPr>
          <a:xfrm>
            <a:off x="6400800" y="3730752"/>
            <a:ext cx="5020056" cy="2157984"/>
          </a:xfrm>
          <a:prstGeom prst="rect">
            <a:avLst/>
          </a:prstGeom>
          <a:noFill/>
          <a:ln>
            <a:solidFill>
              <a:schemeClr val="tx1"/>
            </a:solidFill>
          </a:ln>
        </p:spPr>
        <p:txBody>
          <a:bodyPr wrap="square" lIns="164592" tIns="36576" rIns="164592" bIns="36576" rtlCol="0" anchor="ctr"/>
          <a:lstStyle/>
          <a:p>
            <a:pPr algn="l"/>
            <a:r>
              <a:rPr sz="1800" b="1" i="0" dirty="0">
                <a:solidFill>
                  <a:srgbClr val="002060"/>
                </a:solidFill>
                <a:latin typeface="Times New Roman"/>
              </a:rPr>
              <a:t>Our project: an integrated evidence workflow</a:t>
            </a:r>
          </a:p>
          <a:p>
            <a:pPr algn="l">
              <a:spcBef>
                <a:spcPts val="800"/>
              </a:spcBef>
            </a:pPr>
            <a:r>
              <a:rPr sz="2000" b="1" i="0" dirty="0">
                <a:solidFill>
                  <a:srgbClr val="002060"/>
                </a:solidFill>
                <a:latin typeface="Times New Roman"/>
              </a:rPr>
              <a:t>Capture + Integrity + Custody + Federated Learning</a:t>
            </a:r>
          </a:p>
          <a:p>
            <a:pPr algn="l">
              <a:spcBef>
                <a:spcPts val="800"/>
              </a:spcBef>
            </a:pPr>
            <a:r>
              <a:rPr sz="1700" b="1" dirty="0">
                <a:latin typeface="Times New Roman"/>
              </a:rPr>
              <a:t>It supports legal procedure and investigator judgment.</a:t>
            </a:r>
          </a:p>
        </p:txBody>
      </p:sp>
    </p:spTree>
    <p:extLst>
      <p:ext uri="{BB962C8B-B14F-4D97-AF65-F5344CB8AC3E}">
        <p14:creationId xmlns:p14="http://schemas.microsoft.com/office/powerpoint/2010/main" val="1658386993"/>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IN" altLang="en-US" sz="3200" b="1" dirty="0">
                <a:solidFill>
                  <a:srgbClr val="FF0000"/>
                </a:solidFill>
              </a:rPr>
              <a:t>Abstract</a:t>
            </a:r>
            <a:endParaRPr lang="en-IN" sz="2800" dirty="0"/>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a:xfrm>
            <a:off x="760204" y="1973789"/>
            <a:ext cx="10661904" cy="4297680"/>
          </a:xfrm>
        </p:spPr>
        <p:txBody>
          <a:bodyPr/>
          <a:lstStyle/>
          <a:p>
            <a:r>
              <a:rPr lang="en-US" sz="2400" dirty="0">
                <a:latin typeface="Times New Roman" panose="02020603050405020304" pitchFamily="18" charset="0"/>
                <a:cs typeface="Times New Roman" panose="02020603050405020304" pitchFamily="18" charset="0"/>
              </a:rPr>
              <a:t>ASMF proposes a framework for preserving and analysing volatile social media evidence. Ambient agents capture posts, edits and deletions with metadata through permitted interfaces. Lossless normalization retains the original bytes, while SHA-256 digests and an append-only custody trail support later verification. Federated nodes train locally and share signed model updates. A FastAPI backend and React interface connect review and reporting. Original evidence, derived artifacts, observations, inferences, predictions and human conclusions remain separate.</a:t>
            </a:r>
            <a:endParaRPr lang="en-IN" sz="2400" b="0" i="0" dirty="0">
              <a:solidFill>
                <a:srgbClr val="000000"/>
              </a:solidFill>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5</a:t>
            </a:fld>
            <a:endParaRPr lang="en-IN" dirty="0"/>
          </a:p>
        </p:txBody>
      </p:sp>
      <p:sp>
        <p:nvSpPr>
          <p:cNvPr id="4" name="Discussion strip">
            <a:extLst>
              <a:ext uri="{FF2B5EF4-FFF2-40B4-BE49-F238E27FC236}">
                <a16:creationId xmlns:a16="http://schemas.microsoft.com/office/drawing/2014/main" id="{32FF9215-A10B-9C79-E6B5-E3455BF92AC6}"/>
              </a:ext>
            </a:extLst>
          </p:cNvPr>
          <p:cNvSpPr/>
          <p:nvPr/>
        </p:nvSpPr>
        <p:spPr>
          <a:xfrm>
            <a:off x="758952" y="5458968"/>
            <a:ext cx="10661904" cy="512064"/>
          </a:xfrm>
          <a:prstGeom prst="rect">
            <a:avLst/>
          </a:prstGeom>
          <a:solidFill>
            <a:srgbClr val="E8EDF6"/>
          </a:solidFill>
          <a:ln>
            <a:noFill/>
          </a:ln>
        </p:spPr>
        <p:txBody>
          <a:bodyPr wrap="square" lIns="128016" tIns="36576" rIns="128016" bIns="36576" rtlCol="0" anchor="ctr"/>
          <a:lstStyle/>
          <a:p>
            <a:r>
              <a:rPr lang="en-US" b="1" i="0" dirty="0">
                <a:solidFill>
                  <a:srgbClr val="002060"/>
                </a:solidFill>
                <a:latin typeface="Times New Roman" panose="02020603050405020304" pitchFamily="18" charset="0"/>
                <a:cs typeface="Times New Roman" panose="02020603050405020304" pitchFamily="18" charset="0"/>
              </a:rPr>
              <a:t>KEYWORDS : </a:t>
            </a:r>
            <a:r>
              <a:rPr b="0" i="0" dirty="0">
                <a:solidFill>
                  <a:srgbClr val="000000"/>
                </a:solidFill>
                <a:latin typeface="Times New Roman" panose="02020603050405020304" pitchFamily="18" charset="0"/>
                <a:cs typeface="Times New Roman" panose="02020603050405020304" pitchFamily="18" charset="0"/>
              </a:rPr>
              <a:t>Social Media Forensics, Ambient Intelligence, Federated Learning, SHA-256, Chain of Custody, Evidence Preservation</a:t>
            </a:r>
          </a:p>
        </p:txBody>
      </p:sp>
    </p:spTree>
    <p:extLst>
      <p:ext uri="{BB962C8B-B14F-4D97-AF65-F5344CB8AC3E}">
        <p14:creationId xmlns:p14="http://schemas.microsoft.com/office/powerpoint/2010/main" val="3534483171"/>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4"/>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IN" altLang="en-US" sz="3200" b="1" dirty="0">
                <a:solidFill>
                  <a:srgbClr val="FF0000"/>
                </a:solidFill>
              </a:rPr>
              <a:t>Objectives</a:t>
            </a:r>
            <a:endParaRPr lang="en-IN" sz="2800" dirty="0"/>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a:xfrm>
            <a:off x="758952" y="1691640"/>
            <a:ext cx="10661904" cy="4297680"/>
          </a:xfrm>
        </p:spPr>
        <p:txBody>
          <a:bodyPr/>
          <a:lstStyle/>
          <a:p>
            <a:r>
              <a:rPr lang="en-US" sz="2400" b="1" dirty="0">
                <a:latin typeface="Times New Roman" panose="02020603050405020304" pitchFamily="18" charset="0"/>
                <a:cs typeface="Times New Roman" panose="02020603050405020304" pitchFamily="18" charset="0"/>
              </a:rPr>
              <a:t>Evidence Preservation</a:t>
            </a:r>
            <a:br/>
            <a:r>
              <a:rPr lang="en-US" sz="2400" dirty="0">
                <a:latin typeface="Times New Roman" panose="02020603050405020304" pitchFamily="18" charset="0"/>
                <a:cs typeface="Times New Roman" panose="02020603050405020304" pitchFamily="18" charset="0"/>
              </a:rPr>
              <a:t>Capture posts, edits and deletions with source metadata.</a:t>
            </a:r>
            <a:br/>
            <a:r>
              <a:rPr lang="en-US" sz="2400" dirty="0">
                <a:latin typeface="Times New Roman" panose="02020603050405020304" pitchFamily="18" charset="0"/>
                <a:cs typeface="Times New Roman" panose="02020603050405020304" pitchFamily="18" charset="0"/>
              </a:rPr>
              <a:t>Keep original bytes recoverable and verify them with SHA-256.</a:t>
            </a:r>
          </a:p>
          <a:p>
            <a:r>
              <a:rPr lang="en-US" sz="2400" b="1" dirty="0">
                <a:latin typeface="Times New Roman" panose="02020603050405020304" pitchFamily="18" charset="0"/>
                <a:cs typeface="Times New Roman" panose="02020603050405020304" pitchFamily="18" charset="0"/>
              </a:rPr>
              <a:t>Custody &amp; Investigator Review</a:t>
            </a:r>
            <a:br/>
            <a:r>
              <a:rPr lang="en-US" sz="2400" dirty="0">
                <a:latin typeface="Times New Roman" panose="02020603050405020304" pitchFamily="18" charset="0"/>
                <a:cs typeface="Times New Roman" panose="02020603050405020304" pitchFamily="18" charset="0"/>
              </a:rPr>
              <a:t>Append handling events without overwriting past records.</a:t>
            </a:r>
            <a:br/>
            <a:r>
              <a:rPr lang="en-US" sz="2400" dirty="0">
                <a:latin typeface="Times New Roman" panose="02020603050405020304" pitchFamily="18" charset="0"/>
                <a:cs typeface="Times New Roman" panose="02020603050405020304" pitchFamily="18" charset="0"/>
              </a:rPr>
              <a:t>Trace analysis to exact artifacts and keep human conclusions separate.</a:t>
            </a:r>
          </a:p>
          <a:p>
            <a:r>
              <a:rPr lang="en-US" sz="2400" b="1" dirty="0">
                <a:latin typeface="Times New Roman" panose="02020603050405020304" pitchFamily="18" charset="0"/>
                <a:cs typeface="Times New Roman" panose="02020603050405020304" pitchFamily="18" charset="0"/>
              </a:rPr>
              <a:t>Federated Learning</a:t>
            </a:r>
            <a:br/>
            <a:r>
              <a:rPr lang="en-US" sz="2400" dirty="0">
                <a:latin typeface="Times New Roman" panose="02020603050405020304" pitchFamily="18" charset="0"/>
                <a:cs typeface="Times New Roman" panose="02020603050405020304" pitchFamily="18" charset="0"/>
              </a:rPr>
              <a:t>Compare local-only, centralized, FedAvg and FedProx training under non-IID data. Share signed updates while raw evidence stays local.</a:t>
            </a:r>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6</a:t>
            </a:fld>
            <a:endParaRPr lang="en-IN"/>
          </a:p>
        </p:txBody>
      </p:sp>
    </p:spTree>
    <p:extLst>
      <p:ext uri="{BB962C8B-B14F-4D97-AF65-F5344CB8AC3E}">
        <p14:creationId xmlns:p14="http://schemas.microsoft.com/office/powerpoint/2010/main" val="3339313605"/>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IN" altLang="en-US" sz="3200" b="1" dirty="0">
                <a:solidFill>
                  <a:srgbClr val="FF0000"/>
                </a:solidFill>
              </a:rPr>
              <a:t>System Architecture</a:t>
            </a:r>
            <a:endParaRPr lang="en-IN" sz="2800"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7</a:t>
            </a:fld>
            <a:endParaRPr lang="en-IN"/>
          </a:p>
        </p:txBody>
      </p:sp>
      <p:pic>
        <p:nvPicPr>
          <p:cNvPr id="4" name="Picture 3">
            <a:extLst>
              <a:ext uri="{FF2B5EF4-FFF2-40B4-BE49-F238E27FC236}">
                <a16:creationId xmlns:a16="http://schemas.microsoft.com/office/drawing/2014/main" id="{ED48DBF9-406F-1B7A-765F-09411CC3E51D}"/>
              </a:ext>
            </a:extLst>
          </p:cNvPr>
          <p:cNvPicPr>
            <a:picLocks noChangeAspect="1"/>
          </p:cNvPicPr>
          <p:nvPr/>
        </p:nvPicPr>
        <p:blipFill>
          <a:blip r:embed="rId3"/>
          <a:stretch>
            <a:fillRect/>
          </a:stretch>
        </p:blipFill>
        <p:spPr>
          <a:xfrm>
            <a:off x="3518095" y="1960988"/>
            <a:ext cx="4994290" cy="3801005"/>
          </a:xfrm>
          <a:prstGeom prst="rect">
            <a:avLst/>
          </a:prstGeom>
        </p:spPr>
      </p:pic>
    </p:spTree>
    <p:extLst>
      <p:ext uri="{BB962C8B-B14F-4D97-AF65-F5344CB8AC3E}">
        <p14:creationId xmlns:p14="http://schemas.microsoft.com/office/powerpoint/2010/main" val="10667779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US" altLang="en-US" sz="3200" b="1" dirty="0">
                <a:solidFill>
                  <a:srgbClr val="FF0000"/>
                </a:solidFill>
              </a:rPr>
              <a:t>List of Modules</a:t>
            </a:r>
            <a:endParaRPr lang="en-IN" sz="2800"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8</a:t>
            </a:fld>
            <a:endParaRPr lang="en-IN"/>
          </a:p>
        </p:txBody>
      </p:sp>
      <p:sp>
        <p:nvSpPr>
          <p:cNvPr id="7" name="SHA-256 card"/>
          <p:cNvSpPr/>
          <p:nvPr/>
        </p:nvSpPr>
        <p:spPr>
          <a:xfrm>
            <a:off x="6446520" y="1764792"/>
            <a:ext cx="4974336" cy="2596896"/>
          </a:xfrm>
          <a:prstGeom prst="rect">
            <a:avLst/>
          </a:prstGeom>
          <a:solidFill>
            <a:srgbClr val="FFFFFF"/>
          </a:solidFill>
          <a:ln w="12700">
            <a:solidFill>
              <a:srgbClr val="A6A6A6"/>
            </a:solidFill>
          </a:ln>
        </p:spPr>
        <p:txBody>
          <a:bodyPr wrap="square" lIns="64008" tIns="36576" rIns="64008" bIns="36576" rtlCol="0" anchor="ctr"/>
          <a:lstStyle/>
          <a:p>
            <a:pPr algn="ctr"/>
            <a:endParaRPr/>
          </a:p>
        </p:txBody>
      </p:sp>
      <p:sp>
        <p:nvSpPr>
          <p:cNvPr id="8" name="Rectangle 7"/>
          <p:cNvSpPr/>
          <p:nvPr/>
        </p:nvSpPr>
        <p:spPr>
          <a:xfrm>
            <a:off x="6574536" y="1801368"/>
            <a:ext cx="4718304" cy="365760"/>
          </a:xfrm>
          <a:prstGeom prst="rect">
            <a:avLst/>
          </a:prstGeom>
          <a:noFill/>
          <a:ln>
            <a:noFill/>
          </a:ln>
        </p:spPr>
        <p:txBody>
          <a:bodyPr wrap="square" lIns="18288" tIns="36576" rIns="18288" bIns="36576" rtlCol="0" anchor="ctr"/>
          <a:lstStyle/>
          <a:p>
            <a:pPr algn="l"/>
            <a:r>
              <a:rPr sz="1700" b="1" i="0">
                <a:solidFill>
                  <a:srgbClr val="002060"/>
                </a:solidFill>
                <a:latin typeface="Times New Roman"/>
              </a:rPr>
              <a:t>SHA-256: the evidence's digital fingerprint</a:t>
            </a:r>
          </a:p>
        </p:txBody>
      </p:sp>
      <p:sp>
        <p:nvSpPr>
          <p:cNvPr id="9" name="Rectangle 8"/>
          <p:cNvSpPr/>
          <p:nvPr/>
        </p:nvSpPr>
        <p:spPr>
          <a:xfrm>
            <a:off x="6574536" y="2231136"/>
            <a:ext cx="1737360" cy="530352"/>
          </a:xfrm>
          <a:prstGeom prst="rect">
            <a:avLst/>
          </a:prstGeom>
          <a:solidFill>
            <a:srgbClr val="F2F2F2"/>
          </a:solidFill>
          <a:ln w="12700">
            <a:solidFill>
              <a:srgbClr val="A6A6A6"/>
            </a:solidFill>
          </a:ln>
        </p:spPr>
        <p:txBody>
          <a:bodyPr wrap="square" lIns="27432" tIns="36576" rIns="27432" bIns="36576" rtlCol="0" anchor="ctr"/>
          <a:lstStyle/>
          <a:p>
            <a:pPr algn="ctr"/>
            <a:r>
              <a:rPr sz="1300" b="1" i="0">
                <a:solidFill>
                  <a:srgbClr val="000000"/>
                </a:solidFill>
                <a:latin typeface="Times New Roman"/>
              </a:rPr>
              <a:t>Social_Post_001.json</a:t>
            </a:r>
          </a:p>
          <a:p>
            <a:pPr algn="ctr"/>
            <a:r>
              <a:rPr sz="1200" b="0" i="0">
                <a:solidFill>
                  <a:srgbClr val="002060"/>
                </a:solidFill>
                <a:latin typeface="Times New Roman"/>
              </a:rPr>
              <a:t>(original)</a:t>
            </a:r>
          </a:p>
        </p:txBody>
      </p:sp>
      <p:cxnSp>
        <p:nvCxnSpPr>
          <p:cNvPr id="10" name="Connector 9"/>
          <p:cNvCxnSpPr/>
          <p:nvPr/>
        </p:nvCxnSpPr>
        <p:spPr>
          <a:xfrm>
            <a:off x="8339327" y="2496312"/>
            <a:ext cx="237745" cy="0"/>
          </a:xfrm>
          <a:prstGeom prst="line">
            <a:avLst/>
          </a:prstGeom>
          <a:ln w="22225">
            <a:solidFill>
              <a:srgbClr val="002060"/>
            </a:solidFill>
            <a:tailEnd type="triangle" w="med" len="med"/>
          </a:ln>
        </p:spPr>
      </p:cxnSp>
      <p:sp>
        <p:nvSpPr>
          <p:cNvPr id="11" name="Rounded Rectangle 10"/>
          <p:cNvSpPr/>
          <p:nvPr/>
        </p:nvSpPr>
        <p:spPr>
          <a:xfrm>
            <a:off x="8604504" y="2286000"/>
            <a:ext cx="1572768" cy="420624"/>
          </a:xfrm>
          <a:prstGeom prst="roundRect">
            <a:avLst>
              <a:gd name="adj" fmla="val 14000"/>
            </a:avLst>
          </a:prstGeom>
          <a:solidFill>
            <a:srgbClr val="002060"/>
          </a:solidFill>
          <a:ln>
            <a:noFill/>
          </a:ln>
        </p:spPr>
        <p:txBody>
          <a:bodyPr wrap="square" lIns="18288" tIns="36576" rIns="18288" bIns="36576" rtlCol="0" anchor="ctr"/>
          <a:lstStyle/>
          <a:p>
            <a:pPr algn="ctr"/>
            <a:r>
              <a:rPr sz="1400" b="1" i="0">
                <a:solidFill>
                  <a:srgbClr val="FFFFFF"/>
                </a:solidFill>
                <a:latin typeface="Courier New"/>
              </a:rPr>
              <a:t>a83f7c…92bd</a:t>
            </a:r>
          </a:p>
        </p:txBody>
      </p:sp>
      <p:sp>
        <p:nvSpPr>
          <p:cNvPr id="12" name="Rectangle 11"/>
          <p:cNvSpPr/>
          <p:nvPr/>
        </p:nvSpPr>
        <p:spPr>
          <a:xfrm>
            <a:off x="10250424" y="2231136"/>
            <a:ext cx="1078992" cy="530352"/>
          </a:xfrm>
          <a:prstGeom prst="rect">
            <a:avLst/>
          </a:prstGeom>
          <a:noFill/>
          <a:ln>
            <a:noFill/>
          </a:ln>
        </p:spPr>
        <p:txBody>
          <a:bodyPr wrap="square" lIns="18288" tIns="36576" rIns="18288" bIns="36576" rtlCol="0" anchor="ctr"/>
          <a:lstStyle/>
          <a:p>
            <a:pPr algn="l"/>
            <a:r>
              <a:rPr sz="1300" b="1" i="0">
                <a:solidFill>
                  <a:srgbClr val="002060"/>
                </a:solidFill>
                <a:latin typeface="Times New Roman"/>
              </a:rPr>
              <a:t>Capture hash</a:t>
            </a:r>
          </a:p>
        </p:txBody>
      </p:sp>
      <p:sp>
        <p:nvSpPr>
          <p:cNvPr id="13" name="Rectangle 12"/>
          <p:cNvSpPr/>
          <p:nvPr/>
        </p:nvSpPr>
        <p:spPr>
          <a:xfrm>
            <a:off x="6574536" y="2871216"/>
            <a:ext cx="1737360" cy="530352"/>
          </a:xfrm>
          <a:prstGeom prst="rect">
            <a:avLst/>
          </a:prstGeom>
          <a:solidFill>
            <a:srgbClr val="F2F2F2"/>
          </a:solidFill>
          <a:ln w="12700">
            <a:solidFill>
              <a:srgbClr val="A6A6A6"/>
            </a:solidFill>
          </a:ln>
        </p:spPr>
        <p:txBody>
          <a:bodyPr wrap="square" lIns="27432" tIns="36576" rIns="27432" bIns="36576" rtlCol="0" anchor="ctr"/>
          <a:lstStyle/>
          <a:p>
            <a:pPr algn="ctr"/>
            <a:r>
              <a:rPr sz="1300" b="1" i="0">
                <a:solidFill>
                  <a:srgbClr val="000000"/>
                </a:solidFill>
                <a:latin typeface="Times New Roman"/>
              </a:rPr>
              <a:t>Social_Post_001.json</a:t>
            </a:r>
          </a:p>
          <a:p>
            <a:pPr algn="ctr"/>
            <a:r>
              <a:rPr sz="1200" b="0" i="0">
                <a:solidFill>
                  <a:srgbClr val="C00000"/>
                </a:solidFill>
                <a:latin typeface="Times New Roman"/>
              </a:rPr>
              <a:t>(modified)</a:t>
            </a:r>
          </a:p>
        </p:txBody>
      </p:sp>
      <p:cxnSp>
        <p:nvCxnSpPr>
          <p:cNvPr id="14" name="Connector 13"/>
          <p:cNvCxnSpPr/>
          <p:nvPr/>
        </p:nvCxnSpPr>
        <p:spPr>
          <a:xfrm>
            <a:off x="8339327" y="3136392"/>
            <a:ext cx="237745" cy="0"/>
          </a:xfrm>
          <a:prstGeom prst="line">
            <a:avLst/>
          </a:prstGeom>
          <a:ln w="22225">
            <a:solidFill>
              <a:srgbClr val="C00000"/>
            </a:solidFill>
            <a:tailEnd type="triangle" w="med" len="med"/>
          </a:ln>
        </p:spPr>
      </p:cxnSp>
      <p:sp>
        <p:nvSpPr>
          <p:cNvPr id="15" name="Rounded Rectangle 14"/>
          <p:cNvSpPr/>
          <p:nvPr/>
        </p:nvSpPr>
        <p:spPr>
          <a:xfrm>
            <a:off x="8604504" y="2926080"/>
            <a:ext cx="1572768" cy="420624"/>
          </a:xfrm>
          <a:prstGeom prst="roundRect">
            <a:avLst>
              <a:gd name="adj" fmla="val 14000"/>
            </a:avLst>
          </a:prstGeom>
          <a:solidFill>
            <a:srgbClr val="C00000"/>
          </a:solidFill>
          <a:ln>
            <a:noFill/>
          </a:ln>
        </p:spPr>
        <p:txBody>
          <a:bodyPr wrap="square" lIns="18288" tIns="36576" rIns="18288" bIns="36576" rtlCol="0" anchor="ctr"/>
          <a:lstStyle/>
          <a:p>
            <a:pPr algn="ctr"/>
            <a:r>
              <a:rPr sz="1400" b="1" i="0">
                <a:solidFill>
                  <a:srgbClr val="FFFFFF"/>
                </a:solidFill>
                <a:latin typeface="Courier New"/>
              </a:rPr>
              <a:t>b71e4a…19c6</a:t>
            </a:r>
          </a:p>
        </p:txBody>
      </p:sp>
      <p:sp>
        <p:nvSpPr>
          <p:cNvPr id="16" name="Rectangle 15"/>
          <p:cNvSpPr/>
          <p:nvPr/>
        </p:nvSpPr>
        <p:spPr>
          <a:xfrm>
            <a:off x="10250424" y="2871216"/>
            <a:ext cx="1078992" cy="530352"/>
          </a:xfrm>
          <a:prstGeom prst="rect">
            <a:avLst/>
          </a:prstGeom>
          <a:noFill/>
          <a:ln>
            <a:noFill/>
          </a:ln>
        </p:spPr>
        <p:txBody>
          <a:bodyPr wrap="square" lIns="18288" tIns="36576" rIns="18288" bIns="36576" rtlCol="0" anchor="ctr"/>
          <a:lstStyle/>
          <a:p>
            <a:pPr algn="l"/>
            <a:r>
              <a:rPr sz="1300" b="1" i="0">
                <a:solidFill>
                  <a:srgbClr val="C00000"/>
                </a:solidFill>
                <a:latin typeface="Times New Roman"/>
              </a:rPr>
              <a:t>Current hash</a:t>
            </a:r>
          </a:p>
        </p:txBody>
      </p:sp>
      <p:sp>
        <p:nvSpPr>
          <p:cNvPr id="17" name="Rectangle 16"/>
          <p:cNvSpPr/>
          <p:nvPr/>
        </p:nvSpPr>
        <p:spPr>
          <a:xfrm>
            <a:off x="6574536" y="3529584"/>
            <a:ext cx="4718304" cy="402336"/>
          </a:xfrm>
          <a:prstGeom prst="rect">
            <a:avLst/>
          </a:prstGeom>
          <a:solidFill>
            <a:srgbClr val="FFFFFF"/>
          </a:solidFill>
          <a:ln w="15875">
            <a:solidFill>
              <a:srgbClr val="C00000"/>
            </a:solidFill>
          </a:ln>
        </p:spPr>
        <p:txBody>
          <a:bodyPr wrap="square" lIns="27432" tIns="36576" rIns="27432" bIns="36576" rtlCol="0" anchor="ctr"/>
          <a:lstStyle/>
          <a:p>
            <a:pPr algn="ctr"/>
            <a:r>
              <a:rPr sz="1400" b="1" i="0" dirty="0">
                <a:solidFill>
                  <a:srgbClr val="000000"/>
                </a:solidFill>
                <a:latin typeface="Times New Roman"/>
              </a:rPr>
              <a:t>Capture hash differs from current hash: MISMATCH</a:t>
            </a:r>
          </a:p>
        </p:txBody>
      </p:sp>
      <p:sp>
        <p:nvSpPr>
          <p:cNvPr id="18" name="Rectangle 17"/>
          <p:cNvSpPr/>
          <p:nvPr/>
        </p:nvSpPr>
        <p:spPr>
          <a:xfrm>
            <a:off x="6574536" y="3959352"/>
            <a:ext cx="4718304" cy="365760"/>
          </a:xfrm>
          <a:prstGeom prst="rect">
            <a:avLst/>
          </a:prstGeom>
          <a:noFill/>
          <a:ln>
            <a:noFill/>
          </a:ln>
        </p:spPr>
        <p:txBody>
          <a:bodyPr wrap="square" lIns="18288" tIns="36576" rIns="18288" bIns="36576" rtlCol="0" anchor="ctr"/>
          <a:lstStyle/>
          <a:p>
            <a:pPr algn="ctr"/>
            <a:r>
              <a:rPr sz="1200" b="0" i="1">
                <a:solidFill>
                  <a:srgbClr val="595959"/>
                </a:solidFill>
                <a:latin typeface="Times New Roman"/>
              </a:rPr>
              <a:t>Illustrative digests. A match verifies bytes since capture, not source truth.</a:t>
            </a:r>
          </a:p>
        </p:txBody>
      </p:sp>
      <p:sp>
        <p:nvSpPr>
          <p:cNvPr id="19" name="Why blockchain card"/>
          <p:cNvSpPr/>
          <p:nvPr/>
        </p:nvSpPr>
        <p:spPr>
          <a:xfrm>
            <a:off x="6446520" y="4507992"/>
            <a:ext cx="4974336" cy="1463040"/>
          </a:xfrm>
          <a:prstGeom prst="rect">
            <a:avLst/>
          </a:prstGeom>
          <a:solidFill>
            <a:srgbClr val="F4ECFA"/>
          </a:solidFill>
          <a:ln w="19050">
            <a:solidFill>
              <a:srgbClr val="7030A0"/>
            </a:solidFill>
            <a:prstDash val="dash"/>
          </a:ln>
        </p:spPr>
        <p:txBody>
          <a:bodyPr wrap="square" lIns="146304" tIns="36576" rIns="146304" bIns="36576" rtlCol="0" anchor="ctr"/>
          <a:lstStyle/>
          <a:p>
            <a:pPr algn="l"/>
            <a:r>
              <a:rPr sz="1700" b="1" i="0">
                <a:solidFill>
                  <a:srgbClr val="7030A0"/>
                </a:solidFill>
                <a:latin typeface="Times New Roman"/>
              </a:rPr>
              <a:t>Why a ledger boundary is proposed</a:t>
            </a:r>
          </a:p>
          <a:p>
            <a:pPr algn="l">
              <a:spcBef>
                <a:spcPts val="400"/>
              </a:spcBef>
            </a:pPr>
            <a:r>
              <a:rPr sz="1500" b="0" i="0">
                <a:solidFill>
                  <a:srgbClr val="000000"/>
                </a:solidFill>
                <a:latin typeface="Times New Roman"/>
              </a:rPr>
              <a:t>Custody records remain off-chain. Only permitted digests and commitments reach the ledger. Raw evidence and personal data stay off-chain.</a:t>
            </a:r>
          </a:p>
        </p:txBody>
      </p:sp>
      <p:sp>
        <p:nvSpPr>
          <p:cNvPr id="21" name="Rectangle 4">
            <a:extLst>
              <a:ext uri="{FF2B5EF4-FFF2-40B4-BE49-F238E27FC236}">
                <a16:creationId xmlns:a16="http://schemas.microsoft.com/office/drawing/2014/main" id="{AD4DA2D1-AD06-22CF-7A8B-19DE0039F11A}"/>
              </a:ext>
            </a:extLst>
          </p:cNvPr>
          <p:cNvSpPr>
            <a:spLocks noGrp="1" noChangeArrowheads="1"/>
          </p:cNvSpPr>
          <p:nvPr>
            <p:ph idx="1"/>
          </p:nvPr>
        </p:nvSpPr>
        <p:spPr bwMode="auto">
          <a:xfrm>
            <a:off x="905764" y="1742022"/>
            <a:ext cx="5668772"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2000" b="1" dirty="0">
                <a:latin typeface="Times New Roman" panose="02020603050405020304" pitchFamily="18" charset="0"/>
                <a:cs typeface="Times New Roman" panose="02020603050405020304" pitchFamily="18" charset="0"/>
              </a:rPr>
              <a:t>1.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Capture &amp; Preservation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Evidence Capture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Edit and Deletion Detection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Lossless Normalization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SHA-256 Verification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Source Metadata and Lineage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Custody &amp; Verification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Append-only Custody Ledger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Digest and Chain Verification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Digest-only Anchoring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Learning &amp; Reporting Module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Federated Training and Registry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Investigator Review</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Dashboard and Report Export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1015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US" altLang="en-US" sz="1800" b="1" dirty="0">
                <a:solidFill>
                  <a:srgbClr val="FF0000"/>
                </a:solidFill>
              </a:rPr>
              <a:t>Module Description</a:t>
            </a:r>
            <a:endParaRPr lang="en-IN" sz="1800"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z="1800" smtClean="0"/>
              <a:t>9</a:t>
            </a:fld>
            <a:endParaRPr lang="en-IN" sz="1800"/>
          </a:p>
        </p:txBody>
      </p:sp>
      <p:sp>
        <p:nvSpPr>
          <p:cNvPr id="7" name="Module 1"/>
          <p:cNvSpPr/>
          <p:nvPr/>
        </p:nvSpPr>
        <p:spPr>
          <a:xfrm>
            <a:off x="766232" y="1776684"/>
            <a:ext cx="10662579" cy="1187865"/>
          </a:xfrm>
          <a:prstGeom prst="rect">
            <a:avLst/>
          </a:prstGeom>
          <a:solidFill>
            <a:srgbClr val="FFFFFF"/>
          </a:solidFill>
          <a:ln w="12700">
            <a:solidFill>
              <a:srgbClr val="A6A6A6"/>
            </a:solidFill>
          </a:ln>
        </p:spPr>
        <p:txBody>
          <a:bodyPr wrap="square" lIns="603504" tIns="27432" rIns="73152" bIns="27432" rtlCol="0" anchor="ctr"/>
          <a:lstStyle/>
          <a:p>
            <a:r>
              <a:rPr lang="en-US" b="1" dirty="0">
                <a:latin typeface="Times New Roman" panose="02020603050405020304" pitchFamily="18" charset="0"/>
                <a:cs typeface="Times New Roman" panose="02020603050405020304" pitchFamily="18" charset="0"/>
              </a:rPr>
              <a:t>Capture &amp; Preservation Module</a:t>
            </a:r>
            <a:br/>
            <a:r>
              <a:rPr lang="en-US" dirty="0">
                <a:latin typeface="Times New Roman" panose="02020603050405020304" pitchFamily="18" charset="0"/>
                <a:cs typeface="Times New Roman" panose="02020603050405020304" pitchFamily="18" charset="0"/>
              </a:rPr>
              <a:t>Captures permitted social posts and news publications with source metadata. Preserves original bytes in a lossless envelope and stores each edit as a new artifact.</a:t>
            </a:r>
            <a:endParaRPr b="0" i="0" dirty="0">
              <a:solidFill>
                <a:srgbClr val="000000"/>
              </a:solidFill>
              <a:latin typeface="Times New Roman" panose="02020603050405020304" pitchFamily="18" charset="0"/>
              <a:cs typeface="Times New Roman" panose="02020603050405020304" pitchFamily="18" charset="0"/>
            </a:endParaRPr>
          </a:p>
        </p:txBody>
      </p:sp>
      <p:sp>
        <p:nvSpPr>
          <p:cNvPr id="8" name="Oval 7"/>
          <p:cNvSpPr/>
          <p:nvPr/>
        </p:nvSpPr>
        <p:spPr>
          <a:xfrm>
            <a:off x="868680" y="1861467"/>
            <a:ext cx="384048" cy="384048"/>
          </a:xfrm>
          <a:prstGeom prst="ellipse">
            <a:avLst/>
          </a:prstGeom>
          <a:solidFill>
            <a:srgbClr val="002060"/>
          </a:solidFill>
          <a:ln>
            <a:noFill/>
          </a:ln>
        </p:spPr>
        <p:txBody>
          <a:bodyPr wrap="square" lIns="0" tIns="0" rIns="0" bIns="0" rtlCol="0" anchor="ctr"/>
          <a:lstStyle/>
          <a:p>
            <a:pPr algn="ctr"/>
            <a:r>
              <a:rPr b="1" i="0" dirty="0">
                <a:solidFill>
                  <a:srgbClr val="FFFFFF"/>
                </a:solidFill>
                <a:latin typeface="Times New Roman"/>
              </a:rPr>
              <a:t>1</a:t>
            </a:r>
          </a:p>
        </p:txBody>
      </p:sp>
      <p:sp>
        <p:nvSpPr>
          <p:cNvPr id="3" name="Module 1">
            <a:extLst>
              <a:ext uri="{FF2B5EF4-FFF2-40B4-BE49-F238E27FC236}">
                <a16:creationId xmlns:a16="http://schemas.microsoft.com/office/drawing/2014/main" id="{486A048F-0A9D-C1EF-92A8-DEC84E3A3427}"/>
              </a:ext>
            </a:extLst>
          </p:cNvPr>
          <p:cNvSpPr/>
          <p:nvPr/>
        </p:nvSpPr>
        <p:spPr>
          <a:xfrm>
            <a:off x="758887" y="3121121"/>
            <a:ext cx="10662579" cy="1264822"/>
          </a:xfrm>
          <a:prstGeom prst="rect">
            <a:avLst/>
          </a:prstGeom>
          <a:solidFill>
            <a:srgbClr val="FFFFFF"/>
          </a:solidFill>
          <a:ln w="12700">
            <a:solidFill>
              <a:srgbClr val="A6A6A6"/>
            </a:solidFill>
          </a:ln>
        </p:spPr>
        <p:txBody>
          <a:bodyPr wrap="square" lIns="603504" tIns="27432" rIns="73152" bIns="27432" rtlCol="0" anchor="ctr"/>
          <a:lstStyle/>
          <a:p>
            <a:r>
              <a:rPr lang="en-US" b="1" dirty="0">
                <a:latin typeface="Times New Roman" panose="02020603050405020304" pitchFamily="18" charset="0"/>
                <a:cs typeface="Times New Roman" panose="02020603050405020304" pitchFamily="18" charset="0"/>
              </a:rPr>
              <a:t>Custody &amp; Verification Module</a:t>
            </a:r>
            <a:br/>
            <a:r>
              <a:rPr lang="en-US" dirty="0">
                <a:latin typeface="Times New Roman" panose="02020603050405020304" pitchFamily="18" charset="0"/>
                <a:cs typeface="Times New Roman" panose="02020603050405020304" pitchFamily="18" charset="0"/>
              </a:rPr>
              <a:t>Appends handling events, checks evidence digests and verifies predecessor links. Full custody records stay off-chain, with permitted digests sent for anchoring.</a:t>
            </a:r>
            <a:endParaRPr b="1" i="0" dirty="0">
              <a:solidFill>
                <a:srgbClr val="000000"/>
              </a:solidFill>
              <a:latin typeface="Times New Roman" panose="02020603050405020304" pitchFamily="18" charset="0"/>
              <a:cs typeface="Times New Roman" panose="02020603050405020304" pitchFamily="18" charset="0"/>
            </a:endParaRPr>
          </a:p>
        </p:txBody>
      </p:sp>
      <p:sp>
        <p:nvSpPr>
          <p:cNvPr id="5" name="Oval 4">
            <a:extLst>
              <a:ext uri="{FF2B5EF4-FFF2-40B4-BE49-F238E27FC236}">
                <a16:creationId xmlns:a16="http://schemas.microsoft.com/office/drawing/2014/main" id="{09D2B14D-BA6C-2062-3F22-D7590F5AF458}"/>
              </a:ext>
            </a:extLst>
          </p:cNvPr>
          <p:cNvSpPr/>
          <p:nvPr/>
        </p:nvSpPr>
        <p:spPr>
          <a:xfrm>
            <a:off x="868680" y="3285167"/>
            <a:ext cx="384048" cy="384048"/>
          </a:xfrm>
          <a:prstGeom prst="ellipse">
            <a:avLst/>
          </a:prstGeom>
          <a:solidFill>
            <a:srgbClr val="002060"/>
          </a:solidFill>
          <a:ln>
            <a:noFill/>
          </a:ln>
        </p:spPr>
        <p:txBody>
          <a:bodyPr wrap="square" lIns="0" tIns="0" rIns="0" bIns="0" rtlCol="0" anchor="ctr"/>
          <a:lstStyle/>
          <a:p>
            <a:pPr algn="ctr"/>
            <a:r>
              <a:rPr b="1" i="0" dirty="0">
                <a:solidFill>
                  <a:srgbClr val="FFFFFF"/>
                </a:solidFill>
                <a:latin typeface="Times New Roman"/>
              </a:rPr>
              <a:t>2</a:t>
            </a:r>
          </a:p>
        </p:txBody>
      </p:sp>
      <p:sp>
        <p:nvSpPr>
          <p:cNvPr id="27" name="Module 1">
            <a:extLst>
              <a:ext uri="{FF2B5EF4-FFF2-40B4-BE49-F238E27FC236}">
                <a16:creationId xmlns:a16="http://schemas.microsoft.com/office/drawing/2014/main" id="{61195A98-C96D-0F14-D113-B0FD2C690F20}"/>
              </a:ext>
            </a:extLst>
          </p:cNvPr>
          <p:cNvSpPr/>
          <p:nvPr/>
        </p:nvSpPr>
        <p:spPr>
          <a:xfrm>
            <a:off x="801502" y="4506399"/>
            <a:ext cx="10639763" cy="1155556"/>
          </a:xfrm>
          <a:prstGeom prst="rect">
            <a:avLst/>
          </a:prstGeom>
          <a:solidFill>
            <a:srgbClr val="FFFFFF"/>
          </a:solidFill>
          <a:ln w="12700">
            <a:solidFill>
              <a:srgbClr val="A6A6A6"/>
            </a:solidFill>
          </a:ln>
        </p:spPr>
        <p:txBody>
          <a:bodyPr wrap="square" lIns="603504" tIns="27432" rIns="73152" bIns="27432" rtlCol="0" anchor="ctr"/>
          <a:lstStyle/>
          <a:p>
            <a:r>
              <a:rPr lang="en-US" b="1" dirty="0">
                <a:latin typeface="Times New Roman" panose="02020603050405020304" pitchFamily="18" charset="0"/>
                <a:cs typeface="Times New Roman" panose="02020603050405020304" pitchFamily="18" charset="0"/>
              </a:rPr>
              <a:t>Learning &amp; Reporting Module</a:t>
            </a:r>
            <a:br/>
            <a:r>
              <a:rPr lang="en-US" dirty="0">
                <a:latin typeface="Times New Roman" panose="02020603050405020304" pitchFamily="18" charset="0"/>
                <a:cs typeface="Times New Roman" panose="02020603050405020304" pitchFamily="18" charset="0"/>
              </a:rPr>
              <a:t>Trains locally and aggregates signed model updates. Records model versions and investigator conclusions, then exports evidence with its custody trail.</a:t>
            </a:r>
            <a:endParaRPr b="1" i="0" dirty="0">
              <a:solidFill>
                <a:srgbClr val="FF0000"/>
              </a:solidFill>
              <a:latin typeface="Times New Roman" panose="02020603050405020304" pitchFamily="18" charset="0"/>
              <a:cs typeface="Times New Roman" panose="02020603050405020304" pitchFamily="18" charset="0"/>
            </a:endParaRPr>
          </a:p>
        </p:txBody>
      </p:sp>
      <p:sp>
        <p:nvSpPr>
          <p:cNvPr id="28" name="Oval 27">
            <a:extLst>
              <a:ext uri="{FF2B5EF4-FFF2-40B4-BE49-F238E27FC236}">
                <a16:creationId xmlns:a16="http://schemas.microsoft.com/office/drawing/2014/main" id="{63592F8D-74DC-850C-D9BF-CBB340A6DF2A}"/>
              </a:ext>
            </a:extLst>
          </p:cNvPr>
          <p:cNvSpPr/>
          <p:nvPr/>
        </p:nvSpPr>
        <p:spPr>
          <a:xfrm>
            <a:off x="868680" y="4581262"/>
            <a:ext cx="384048" cy="384048"/>
          </a:xfrm>
          <a:prstGeom prst="ellipse">
            <a:avLst/>
          </a:prstGeom>
          <a:solidFill>
            <a:srgbClr val="002060"/>
          </a:solidFill>
          <a:ln>
            <a:noFill/>
          </a:ln>
        </p:spPr>
        <p:txBody>
          <a:bodyPr wrap="square" lIns="0" tIns="0" rIns="0" bIns="0" rtlCol="0" anchor="ctr"/>
          <a:lstStyle/>
          <a:p>
            <a:pPr algn="ctr"/>
            <a:r>
              <a:rPr b="1" i="0" dirty="0">
                <a:solidFill>
                  <a:srgbClr val="FFFFFF"/>
                </a:solidFill>
                <a:latin typeface="Times New Roman"/>
              </a:rPr>
              <a:t>3</a:t>
            </a:r>
          </a:p>
        </p:txBody>
      </p:sp>
    </p:spTree>
    <p:extLst>
      <p:ext uri="{BB962C8B-B14F-4D97-AF65-F5344CB8AC3E}">
        <p14:creationId xmlns:p14="http://schemas.microsoft.com/office/powerpoint/2010/main" val="5175299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US" altLang="en-US" sz="3200" b="1" dirty="0">
                <a:solidFill>
                  <a:srgbClr val="FF0000"/>
                </a:solidFill>
              </a:rPr>
              <a:t>Phase I - Results &amp; Discussion</a:t>
            </a:r>
            <a:endParaRPr lang="en-IN" sz="2800"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10</a:t>
            </a:fld>
            <a:endParaRPr lang="en-IN"/>
          </a:p>
        </p:txBody>
      </p:sp>
      <p:sp>
        <p:nvSpPr>
          <p:cNvPr id="9" name="Rectangle 8"/>
          <p:cNvSpPr/>
          <p:nvPr/>
        </p:nvSpPr>
        <p:spPr>
          <a:xfrm>
            <a:off x="737926" y="1778508"/>
            <a:ext cx="2011680" cy="1024128"/>
          </a:xfrm>
          <a:prstGeom prst="rect">
            <a:avLst/>
          </a:prstGeom>
          <a:solidFill>
            <a:srgbClr val="FFFFFF"/>
          </a:solidFill>
          <a:ln w="12700">
            <a:solidFill>
              <a:srgbClr val="A6A6A6"/>
            </a:solidFill>
          </a:ln>
        </p:spPr>
        <p:txBody>
          <a:bodyPr wrap="square" lIns="45720" tIns="91440" rIns="45720" bIns="18288" rtlCol="0" anchor="t"/>
          <a:lstStyle/>
          <a:p>
            <a:pPr algn="ctr"/>
            <a:r>
              <a:rPr sz="2600" b="1" i="0">
                <a:solidFill>
                  <a:srgbClr val="2E7D32"/>
                </a:solidFill>
                <a:latin typeface="Times New Roman"/>
              </a:rPr>
              <a:t>0.66</a:t>
            </a:r>
          </a:p>
          <a:p>
            <a:pPr algn="ctr"/>
            <a:r>
              <a:rPr sz="1300" b="0" i="0">
                <a:solidFill>
                  <a:srgbClr val="000000"/>
                </a:solidFill>
                <a:latin typeface="Times New Roman"/>
              </a:rPr>
              <a:t>Local-only F1</a:t>
            </a:r>
          </a:p>
        </p:txBody>
      </p:sp>
      <p:sp>
        <p:nvSpPr>
          <p:cNvPr id="10" name="Rectangle 9"/>
          <p:cNvSpPr/>
          <p:nvPr/>
        </p:nvSpPr>
        <p:spPr>
          <a:xfrm>
            <a:off x="2749606" y="1778508"/>
            <a:ext cx="2011680" cy="1024128"/>
          </a:xfrm>
          <a:prstGeom prst="rect">
            <a:avLst/>
          </a:prstGeom>
          <a:solidFill>
            <a:srgbClr val="FFFFFF"/>
          </a:solidFill>
          <a:ln w="12700">
            <a:solidFill>
              <a:srgbClr val="A6A6A6"/>
            </a:solidFill>
          </a:ln>
        </p:spPr>
        <p:txBody>
          <a:bodyPr wrap="square" lIns="45720" tIns="91440" rIns="45720" bIns="18288" rtlCol="0" anchor="t"/>
          <a:lstStyle/>
          <a:p>
            <a:pPr algn="ctr"/>
            <a:r>
              <a:rPr sz="2600" b="1" i="0">
                <a:solidFill>
                  <a:srgbClr val="2E7D32"/>
                </a:solidFill>
                <a:latin typeface="Times New Roman"/>
              </a:rPr>
              <a:t>0.79</a:t>
            </a:r>
          </a:p>
          <a:p>
            <a:pPr algn="ctr"/>
            <a:r>
              <a:rPr sz="1300" b="0" i="0">
                <a:solidFill>
                  <a:srgbClr val="000000"/>
                </a:solidFill>
                <a:latin typeface="Times New Roman"/>
              </a:rPr>
              <a:t>FedAvg F1</a:t>
            </a:r>
          </a:p>
        </p:txBody>
      </p:sp>
      <p:sp>
        <p:nvSpPr>
          <p:cNvPr id="11" name="Rectangle 10"/>
          <p:cNvSpPr/>
          <p:nvPr/>
        </p:nvSpPr>
        <p:spPr>
          <a:xfrm>
            <a:off x="4761286" y="1778508"/>
            <a:ext cx="2011680" cy="1024128"/>
          </a:xfrm>
          <a:prstGeom prst="rect">
            <a:avLst/>
          </a:prstGeom>
          <a:solidFill>
            <a:srgbClr val="FFFFFF"/>
          </a:solidFill>
          <a:ln w="12700">
            <a:solidFill>
              <a:srgbClr val="A6A6A6"/>
            </a:solidFill>
          </a:ln>
        </p:spPr>
        <p:txBody>
          <a:bodyPr wrap="square" lIns="45720" tIns="91440" rIns="45720" bIns="18288" rtlCol="0" anchor="t"/>
          <a:lstStyle/>
          <a:p>
            <a:pPr algn="ctr"/>
            <a:r>
              <a:rPr sz="2600" b="1" i="0">
                <a:solidFill>
                  <a:srgbClr val="2E7D32"/>
                </a:solidFill>
                <a:latin typeface="Times New Roman"/>
              </a:rPr>
              <a:t>0.81</a:t>
            </a:r>
          </a:p>
          <a:p>
            <a:pPr algn="ctr"/>
            <a:r>
              <a:rPr sz="1300" b="0" i="0">
                <a:solidFill>
                  <a:srgbClr val="000000"/>
                </a:solidFill>
                <a:latin typeface="Times New Roman"/>
              </a:rPr>
              <a:t>FedProx F1</a:t>
            </a:r>
          </a:p>
        </p:txBody>
      </p:sp>
      <p:sp>
        <p:nvSpPr>
          <p:cNvPr id="12" name="Rectangle 11"/>
          <p:cNvSpPr/>
          <p:nvPr/>
        </p:nvSpPr>
        <p:spPr>
          <a:xfrm>
            <a:off x="758952" y="2944368"/>
            <a:ext cx="5230368" cy="274320"/>
          </a:xfrm>
          <a:prstGeom prst="rect">
            <a:avLst/>
          </a:prstGeom>
          <a:noFill/>
          <a:ln>
            <a:noFill/>
          </a:ln>
        </p:spPr>
        <p:txBody>
          <a:bodyPr wrap="square" lIns="18288" tIns="36576" rIns="18288" bIns="36576" rtlCol="0" anchor="ctr"/>
          <a:lstStyle/>
          <a:p>
            <a:pPr algn="l"/>
            <a:r>
              <a:rPr sz="1600" b="1" i="0">
                <a:solidFill>
                  <a:srgbClr val="002060"/>
                </a:solidFill>
                <a:latin typeface="Times New Roman"/>
              </a:rPr>
              <a:t>Reported custody metrics</a:t>
            </a:r>
          </a:p>
        </p:txBody>
      </p:sp>
      <p:sp>
        <p:nvSpPr>
          <p:cNvPr id="13" name="Rectangle 12"/>
          <p:cNvSpPr/>
          <p:nvPr/>
        </p:nvSpPr>
        <p:spPr>
          <a:xfrm>
            <a:off x="758952" y="3273552"/>
            <a:ext cx="3154680" cy="603504"/>
          </a:xfrm>
          <a:prstGeom prst="rect">
            <a:avLst/>
          </a:prstGeom>
          <a:solidFill>
            <a:srgbClr val="FFFFFF"/>
          </a:solidFill>
          <a:ln w="12700">
            <a:solidFill>
              <a:srgbClr val="A6A6A6"/>
            </a:solidFill>
          </a:ln>
        </p:spPr>
        <p:txBody>
          <a:bodyPr wrap="square" lIns="109728" tIns="36576" rIns="109728" bIns="36576" rtlCol="0" anchor="ctr"/>
          <a:lstStyle/>
          <a:p>
            <a:pPr algn="l"/>
            <a:r>
              <a:rPr sz="1500" b="1" i="0">
                <a:solidFill>
                  <a:srgbClr val="000000"/>
                </a:solidFill>
                <a:latin typeface="Times New Roman"/>
              </a:rPr>
              <a:t>Unmodified evidence</a:t>
            </a:r>
          </a:p>
          <a:p>
            <a:pPr algn="l"/>
            <a:r>
              <a:rPr sz="1200" b="0" i="0">
                <a:solidFill>
                  <a:srgbClr val="595959"/>
                </a:solidFill>
                <a:latin typeface="Times New Roman"/>
              </a:rPr>
              <a:t>100% hash-verification rate</a:t>
            </a:r>
          </a:p>
        </p:txBody>
      </p:sp>
      <p:cxnSp>
        <p:nvCxnSpPr>
          <p:cNvPr id="14" name="Connector 13"/>
          <p:cNvCxnSpPr/>
          <p:nvPr/>
        </p:nvCxnSpPr>
        <p:spPr>
          <a:xfrm>
            <a:off x="3941063" y="3575304"/>
            <a:ext cx="292609" cy="0"/>
          </a:xfrm>
          <a:prstGeom prst="line">
            <a:avLst/>
          </a:prstGeom>
          <a:ln w="25400">
            <a:solidFill>
              <a:srgbClr val="2E7D32"/>
            </a:solidFill>
            <a:tailEnd type="triangle" w="med" len="med"/>
          </a:ln>
        </p:spPr>
      </p:cxnSp>
      <p:sp>
        <p:nvSpPr>
          <p:cNvPr id="15" name="Rounded Rectangle 14"/>
          <p:cNvSpPr/>
          <p:nvPr/>
        </p:nvSpPr>
        <p:spPr>
          <a:xfrm>
            <a:off x="4261104" y="3328416"/>
            <a:ext cx="1728215" cy="493776"/>
          </a:xfrm>
          <a:prstGeom prst="roundRect">
            <a:avLst>
              <a:gd name="adj" fmla="val 14000"/>
            </a:avLst>
          </a:prstGeom>
          <a:solidFill>
            <a:srgbClr val="2E7D32"/>
          </a:solidFill>
          <a:ln>
            <a:noFill/>
          </a:ln>
        </p:spPr>
        <p:txBody>
          <a:bodyPr wrap="square" lIns="64008" tIns="36576" rIns="64008" bIns="36576" rtlCol="0" anchor="ctr"/>
          <a:lstStyle/>
          <a:p>
            <a:pPr algn="ctr"/>
            <a:r>
              <a:rPr sz="1600" b="1" i="0">
                <a:solidFill>
                  <a:srgbClr val="FFFFFF"/>
                </a:solidFill>
                <a:latin typeface="Times New Roman"/>
              </a:rPr>
              <a:t>VERIFIED</a:t>
            </a:r>
          </a:p>
        </p:txBody>
      </p:sp>
      <p:sp>
        <p:nvSpPr>
          <p:cNvPr id="16" name="Rectangle 15"/>
          <p:cNvSpPr/>
          <p:nvPr/>
        </p:nvSpPr>
        <p:spPr>
          <a:xfrm>
            <a:off x="758952" y="3968496"/>
            <a:ext cx="3154680" cy="603504"/>
          </a:xfrm>
          <a:prstGeom prst="rect">
            <a:avLst/>
          </a:prstGeom>
          <a:solidFill>
            <a:srgbClr val="FFFFFF"/>
          </a:solidFill>
          <a:ln w="12700">
            <a:solidFill>
              <a:srgbClr val="A6A6A6"/>
            </a:solidFill>
          </a:ln>
        </p:spPr>
        <p:txBody>
          <a:bodyPr wrap="square" lIns="109728" tIns="36576" rIns="109728" bIns="36576" rtlCol="0" anchor="ctr"/>
          <a:lstStyle/>
          <a:p>
            <a:pPr algn="l"/>
            <a:r>
              <a:rPr sz="1500" b="1" i="0">
                <a:solidFill>
                  <a:srgbClr val="000000"/>
                </a:solidFill>
                <a:latin typeface="Times New Roman"/>
              </a:rPr>
              <a:t>Injected modifications</a:t>
            </a:r>
          </a:p>
          <a:p>
            <a:pPr algn="l"/>
            <a:r>
              <a:rPr sz="1200" b="0" i="0">
                <a:solidFill>
                  <a:srgbClr val="595959"/>
                </a:solidFill>
                <a:latin typeface="Times New Roman"/>
              </a:rPr>
              <a:t>100% tamper-detection rate</a:t>
            </a:r>
          </a:p>
        </p:txBody>
      </p:sp>
      <p:cxnSp>
        <p:nvCxnSpPr>
          <p:cNvPr id="17" name="Connector 16"/>
          <p:cNvCxnSpPr/>
          <p:nvPr/>
        </p:nvCxnSpPr>
        <p:spPr>
          <a:xfrm>
            <a:off x="3941063" y="4270248"/>
            <a:ext cx="292609" cy="0"/>
          </a:xfrm>
          <a:prstGeom prst="line">
            <a:avLst/>
          </a:prstGeom>
          <a:ln w="25400">
            <a:solidFill>
              <a:srgbClr val="C00000"/>
            </a:solidFill>
            <a:tailEnd type="triangle" w="med" len="med"/>
          </a:ln>
        </p:spPr>
      </p:cxnSp>
      <p:sp>
        <p:nvSpPr>
          <p:cNvPr id="18" name="Rounded Rectangle 17"/>
          <p:cNvSpPr/>
          <p:nvPr/>
        </p:nvSpPr>
        <p:spPr>
          <a:xfrm>
            <a:off x="4261104" y="4023359"/>
            <a:ext cx="1728215" cy="493776"/>
          </a:xfrm>
          <a:prstGeom prst="roundRect">
            <a:avLst>
              <a:gd name="adj" fmla="val 14000"/>
            </a:avLst>
          </a:prstGeom>
          <a:solidFill>
            <a:srgbClr val="C00000"/>
          </a:solidFill>
          <a:ln>
            <a:noFill/>
          </a:ln>
        </p:spPr>
        <p:txBody>
          <a:bodyPr wrap="square" lIns="64008" tIns="36576" rIns="64008" bIns="36576" rtlCol="0" anchor="ctr"/>
          <a:lstStyle/>
          <a:p>
            <a:pPr algn="ctr"/>
            <a:r>
              <a:rPr sz="1600" b="1" i="0">
                <a:solidFill>
                  <a:srgbClr val="FFFFFF"/>
                </a:solidFill>
                <a:latin typeface="Times New Roman"/>
              </a:rPr>
              <a:t>DETECTED</a:t>
            </a:r>
          </a:p>
        </p:txBody>
      </p:sp>
      <p:sp>
        <p:nvSpPr>
          <p:cNvPr id="19" name="Rectangle 18"/>
          <p:cNvSpPr/>
          <p:nvPr/>
        </p:nvSpPr>
        <p:spPr>
          <a:xfrm>
            <a:off x="758952" y="4663440"/>
            <a:ext cx="3154680" cy="603504"/>
          </a:xfrm>
          <a:prstGeom prst="rect">
            <a:avLst/>
          </a:prstGeom>
          <a:solidFill>
            <a:srgbClr val="FFFFFF"/>
          </a:solidFill>
          <a:ln w="12700">
            <a:solidFill>
              <a:srgbClr val="A6A6A6"/>
            </a:solidFill>
          </a:ln>
        </p:spPr>
        <p:txBody>
          <a:bodyPr wrap="square" lIns="109728" tIns="36576" rIns="109728" bIns="36576" rtlCol="0" anchor="ctr"/>
          <a:lstStyle/>
          <a:p>
            <a:pPr algn="l"/>
            <a:r>
              <a:rPr sz="1500" b="1" i="0">
                <a:solidFill>
                  <a:srgbClr val="000000"/>
                </a:solidFill>
                <a:latin typeface="Times New Roman"/>
              </a:rPr>
              <a:t>Deleted-post capture</a:t>
            </a:r>
          </a:p>
          <a:p>
            <a:pPr algn="l"/>
            <a:r>
              <a:rPr sz="1200" b="0" i="0">
                <a:solidFill>
                  <a:srgbClr val="595959"/>
                </a:solidFill>
                <a:latin typeface="Times New Roman"/>
              </a:rPr>
              <a:t>92% preserved before deletion</a:t>
            </a:r>
          </a:p>
        </p:txBody>
      </p:sp>
      <p:cxnSp>
        <p:nvCxnSpPr>
          <p:cNvPr id="20" name="Connector 19"/>
          <p:cNvCxnSpPr/>
          <p:nvPr/>
        </p:nvCxnSpPr>
        <p:spPr>
          <a:xfrm>
            <a:off x="3941063" y="4965192"/>
            <a:ext cx="292609" cy="0"/>
          </a:xfrm>
          <a:prstGeom prst="line">
            <a:avLst/>
          </a:prstGeom>
          <a:ln w="25400">
            <a:solidFill>
              <a:srgbClr val="595959"/>
            </a:solidFill>
            <a:tailEnd type="triangle" w="med" len="med"/>
          </a:ln>
        </p:spPr>
      </p:cxnSp>
      <p:sp>
        <p:nvSpPr>
          <p:cNvPr id="21" name="Rounded Rectangle 20"/>
          <p:cNvSpPr/>
          <p:nvPr/>
        </p:nvSpPr>
        <p:spPr>
          <a:xfrm>
            <a:off x="4261104" y="4718303"/>
            <a:ext cx="1728215" cy="493776"/>
          </a:xfrm>
          <a:prstGeom prst="roundRect">
            <a:avLst>
              <a:gd name="adj" fmla="val 14000"/>
            </a:avLst>
          </a:prstGeom>
          <a:solidFill>
            <a:srgbClr val="595959"/>
          </a:solidFill>
          <a:ln>
            <a:noFill/>
          </a:ln>
        </p:spPr>
        <p:txBody>
          <a:bodyPr wrap="square" lIns="64008" tIns="36576" rIns="64008" bIns="36576" rtlCol="0" anchor="ctr"/>
          <a:lstStyle/>
          <a:p>
            <a:pPr algn="ctr"/>
            <a:r>
              <a:rPr sz="1600" b="1" i="0">
                <a:solidFill>
                  <a:srgbClr val="FFFFFF"/>
                </a:solidFill>
                <a:latin typeface="Times New Roman"/>
              </a:rPr>
              <a:t>92%</a:t>
            </a:r>
          </a:p>
        </p:txBody>
      </p:sp>
      <p:sp>
        <p:nvSpPr>
          <p:cNvPr id="37" name="Discussion strip"/>
          <p:cNvSpPr/>
          <p:nvPr/>
        </p:nvSpPr>
        <p:spPr>
          <a:xfrm>
            <a:off x="758952" y="5458968"/>
            <a:ext cx="10661904" cy="512064"/>
          </a:xfrm>
          <a:prstGeom prst="rect">
            <a:avLst/>
          </a:prstGeom>
          <a:solidFill>
            <a:srgbClr val="E8EDF6"/>
          </a:solidFill>
          <a:ln>
            <a:noFill/>
          </a:ln>
        </p:spPr>
        <p:txBody>
          <a:bodyPr wrap="square" lIns="128016" tIns="36576" rIns="128016" bIns="36576" rtlCol="0" anchor="ctr"/>
          <a:lstStyle/>
          <a:p>
            <a:pPr algn="l"/>
            <a:r>
              <a:rPr sz="1400" b="1" i="0">
                <a:solidFill>
                  <a:srgbClr val="002060"/>
                </a:solidFill>
                <a:latin typeface="Times New Roman"/>
              </a:rPr>
              <a:t>Discussion: </a:t>
            </a:r>
            <a:r>
              <a:rPr sz="1400" b="0" i="0">
                <a:solidFill>
                  <a:srgbClr val="000000"/>
                </a:solidFill>
                <a:latin typeface="Times New Roman"/>
              </a:rPr>
              <a:t>PDF-reported results from simulated nodes. Dataset and training details remain incomplete. The screenshot shows the demo interface, not experiment verification.</a:t>
            </a:r>
          </a:p>
        </p:txBody>
      </p:sp>
      <p:pic>
        <p:nvPicPr>
          <p:cNvPr id="3" name="Picture 2" descr="ASMF investigator dashboard in DEMO DATA mode. Supplied implementation screenshot.">
            <a:extLst>
              <a:ext uri="{FF2B5EF4-FFF2-40B4-BE49-F238E27FC236}">
                <a16:creationId xmlns:a16="http://schemas.microsoft.com/office/drawing/2014/main" id="{96D35FCA-825D-53CA-FE2A-7AEFF68A328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rot="10800000" flipH="1" flipV="1">
            <a:off x="6888088" y="1855267"/>
            <a:ext cx="4931005" cy="3473972"/>
          </a:xfrm>
          <a:prstGeom prst="rect">
            <a:avLst/>
          </a:prstGeom>
          <a:noFill/>
        </p:spPr>
      </p:pic>
    </p:spTree>
    <p:extLst>
      <p:ext uri="{BB962C8B-B14F-4D97-AF65-F5344CB8AC3E}">
        <p14:creationId xmlns:p14="http://schemas.microsoft.com/office/powerpoint/2010/main" val="4109638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US" altLang="en-US" sz="3200" b="1" dirty="0">
                <a:solidFill>
                  <a:srgbClr val="FF0000"/>
                </a:solidFill>
              </a:rPr>
              <a:t>Conclusion</a:t>
            </a:r>
            <a:endParaRPr lang="en-IN" sz="2800" dirty="0"/>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a:xfrm>
            <a:off x="758952" y="1691640"/>
            <a:ext cx="10661904" cy="3154680"/>
          </a:xfrm>
        </p:spPr>
        <p:txBody>
          <a:bodyPr/>
          <a:lstStyle/>
          <a:p>
            <a:r>
              <a:rPr lang="en-IN" sz="2400" b="0" i="0" dirty="0">
                <a:solidFill>
                  <a:srgbClr val="000000"/>
                </a:solidFill>
                <a:latin typeface="Times New Roman"/>
                <a:cs typeface="Times New Roman"/>
              </a:rPr>
              <a:t>Ambient capture preserves posts, edits and deletion events</a:t>
            </a:r>
          </a:p>
          <a:p>
            <a:r>
              <a:rPr lang="en-IN" sz="2400" b="0" i="0" dirty="0">
                <a:solidFill>
                  <a:srgbClr val="000000"/>
                </a:solidFill>
                <a:latin typeface="Times New Roman"/>
                <a:cs typeface="Times New Roman"/>
              </a:rPr>
              <a:t>Original bytes remain recoverable and derivatives retain lineage</a:t>
            </a:r>
          </a:p>
          <a:p>
            <a:r>
              <a:rPr lang="en-IN" sz="2400" b="0" i="0" dirty="0">
                <a:solidFill>
                  <a:srgbClr val="000000"/>
                </a:solidFill>
                <a:latin typeface="Times New Roman"/>
                <a:cs typeface="Times New Roman"/>
              </a:rPr>
              <a:t>SHA-256 and linked custody records support integrity verification</a:t>
            </a:r>
          </a:p>
          <a:p>
            <a:r>
              <a:rPr lang="en-IN" sz="2400" b="0" i="0" dirty="0">
                <a:solidFill>
                  <a:srgbClr val="000000"/>
                </a:solidFill>
                <a:latin typeface="Times New Roman"/>
                <a:cs typeface="Times New Roman"/>
              </a:rPr>
              <a:t>Federated learning shares updates while raw evidence stays local</a:t>
            </a:r>
          </a:p>
          <a:p>
            <a:r>
              <a:rPr lang="en-IN" sz="2400" b="0" i="0" dirty="0">
                <a:solidFill>
                  <a:srgbClr val="000000"/>
                </a:solidFill>
                <a:latin typeface="Times New Roman"/>
                <a:cs typeface="Times New Roman"/>
              </a:rPr>
              <a:t>Predictions support review, with separate investigator conclusions</a:t>
            </a:r>
          </a:p>
          <a:p>
            <a:r>
              <a:rPr lang="en-IN" sz="2400" b="0" i="0" dirty="0">
                <a:solidFill>
                  <a:srgbClr val="000000"/>
                </a:solidFill>
                <a:latin typeface="Times New Roman"/>
                <a:cs typeface="Times New Roman"/>
              </a:rPr>
              <a:t>Future work: secure aggregation, repeated trials and deployment validation</a:t>
            </a:r>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11</a:t>
            </a:fld>
            <a:endParaRPr lang="en-IN"/>
          </a:p>
        </p:txBody>
      </p:sp>
    </p:spTree>
    <p:extLst>
      <p:ext uri="{BB962C8B-B14F-4D97-AF65-F5344CB8AC3E}">
        <p14:creationId xmlns:p14="http://schemas.microsoft.com/office/powerpoint/2010/main" val="2369166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US" altLang="en-US" sz="3200" b="1" dirty="0">
                <a:solidFill>
                  <a:srgbClr val="FF0000"/>
                </a:solidFill>
              </a:rPr>
              <a:t>References</a:t>
            </a:r>
            <a:endParaRPr lang="en-IN" sz="2800" dirty="0"/>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a:xfrm>
            <a:off x="758952" y="1691640"/>
            <a:ext cx="10661904" cy="4297680"/>
          </a:xfrm>
        </p:spPr>
        <p:txBody>
          <a:bodyPr/>
          <a:lstStyle/>
          <a:p>
            <a:pPr marL="411480" indent="-411480" algn="just">
              <a:spcBef>
                <a:spcPts val="700"/>
              </a:spcBef>
              <a:buNone/>
            </a:pPr>
            <a:r>
              <a:rPr lang="en-IN" sz="1600" b="1" i="0" dirty="0">
                <a:solidFill>
                  <a:srgbClr val="C00000"/>
                </a:solidFill>
                <a:latin typeface="Times New Roman"/>
                <a:cs typeface="Times New Roman"/>
              </a:rPr>
              <a:t>[1] </a:t>
            </a:r>
            <a:r>
              <a:rPr lang="en-IN" sz="1600" b="0" i="0" dirty="0">
                <a:solidFill>
                  <a:srgbClr val="000000"/>
                </a:solidFill>
                <a:latin typeface="Times New Roman"/>
                <a:cs typeface="Times New Roman"/>
              </a:rPr>
              <a:t>Khan A.A. et al., "ASMF: Ambient social media forensics chain of custody with an intelligent digital investigation process using federated learning," Heliyon, vol. 10, e23254, 2024.</a:t>
            </a:r>
          </a:p>
          <a:p>
            <a:pPr marL="411480" indent="-411480" algn="just">
              <a:spcBef>
                <a:spcPts val="700"/>
              </a:spcBef>
              <a:buNone/>
            </a:pPr>
            <a:r>
              <a:rPr lang="en-IN" sz="1600" b="1" i="0" dirty="0">
                <a:solidFill>
                  <a:srgbClr val="C00000"/>
                </a:solidFill>
                <a:latin typeface="Times New Roman"/>
                <a:cs typeface="Times New Roman"/>
              </a:rPr>
              <a:t>[2] </a:t>
            </a:r>
            <a:r>
              <a:rPr lang="en-IN" sz="1600" b="0" i="0" dirty="0">
                <a:solidFill>
                  <a:srgbClr val="000000"/>
                </a:solidFill>
                <a:latin typeface="Times New Roman"/>
                <a:cs typeface="Times New Roman"/>
              </a:rPr>
              <a:t>McMahan B. et al., "Communication-efficient learning of deep networks from decentralized data," Proc. AISTATS, 2017.</a:t>
            </a:r>
          </a:p>
          <a:p>
            <a:pPr marL="411480" indent="-411480" algn="just">
              <a:spcBef>
                <a:spcPts val="700"/>
              </a:spcBef>
              <a:buNone/>
            </a:pPr>
            <a:r>
              <a:rPr lang="en-IN" sz="1600" b="1" i="0" dirty="0">
                <a:solidFill>
                  <a:srgbClr val="C00000"/>
                </a:solidFill>
                <a:latin typeface="Times New Roman"/>
                <a:cs typeface="Times New Roman"/>
              </a:rPr>
              <a:t>[3] </a:t>
            </a:r>
            <a:r>
              <a:rPr lang="en-IN" sz="1600" b="0" i="0" dirty="0">
                <a:solidFill>
                  <a:srgbClr val="000000"/>
                </a:solidFill>
                <a:latin typeface="Times New Roman"/>
                <a:cs typeface="Times New Roman"/>
              </a:rPr>
              <a:t>Kent K., Chevalier S., Grance T. and Dang H., "Guide to Integrating Forensic Techniques into Incident Response," NIST SP 800-86, 2006.</a:t>
            </a:r>
          </a:p>
          <a:p>
            <a:pPr marL="411480" indent="-411480" algn="just">
              <a:spcBef>
                <a:spcPts val="700"/>
              </a:spcBef>
              <a:buNone/>
            </a:pPr>
            <a:r>
              <a:rPr lang="en-IN" sz="1600" b="1" i="0" dirty="0">
                <a:solidFill>
                  <a:srgbClr val="C00000"/>
                </a:solidFill>
                <a:latin typeface="Times New Roman"/>
                <a:cs typeface="Times New Roman"/>
              </a:rPr>
              <a:t>[4] </a:t>
            </a:r>
            <a:r>
              <a:rPr lang="en-IN" sz="1600" b="0" i="0" dirty="0">
                <a:solidFill>
                  <a:srgbClr val="000000"/>
                </a:solidFill>
                <a:latin typeface="Times New Roman"/>
                <a:cs typeface="Times New Roman"/>
              </a:rPr>
              <a:t>Bonawitz K. et al., "Practical secure aggregation for privacy-preserving machine learning," Proc. ACM SIGSAC CCS, 2017.</a:t>
            </a:r>
          </a:p>
          <a:p>
            <a:pPr marL="411480" indent="-411480" algn="just">
              <a:spcBef>
                <a:spcPts val="700"/>
              </a:spcBef>
              <a:buNone/>
            </a:pPr>
            <a:r>
              <a:rPr lang="en-IN" sz="1600" b="1" i="0" dirty="0">
                <a:solidFill>
                  <a:srgbClr val="C00000"/>
                </a:solidFill>
                <a:latin typeface="Times New Roman"/>
                <a:cs typeface="Times New Roman"/>
              </a:rPr>
              <a:t>[5] </a:t>
            </a:r>
            <a:r>
              <a:rPr lang="en-IN" sz="1600" b="0" i="0" dirty="0">
                <a:solidFill>
                  <a:srgbClr val="000000"/>
                </a:solidFill>
                <a:latin typeface="Times New Roman"/>
                <a:cs typeface="Times New Roman"/>
              </a:rPr>
              <a:t>Zhu L., Liu Z. and Han S., "Deep leakage from gradients," Advances in Neural Information Processing Systems, vol. 32, 2019.</a:t>
            </a:r>
          </a:p>
          <a:p>
            <a:pPr marL="411480" indent="-411480" algn="just">
              <a:spcBef>
                <a:spcPts val="700"/>
              </a:spcBef>
              <a:buNone/>
            </a:pPr>
            <a:r>
              <a:rPr lang="en-IN" sz="1600" b="1" i="0" dirty="0">
                <a:solidFill>
                  <a:srgbClr val="C00000"/>
                </a:solidFill>
                <a:latin typeface="Times New Roman"/>
                <a:cs typeface="Times New Roman"/>
              </a:rPr>
              <a:t>[6] </a:t>
            </a:r>
            <a:r>
              <a:rPr lang="en-IN" sz="1600" b="0" i="0" dirty="0">
                <a:solidFill>
                  <a:srgbClr val="000000"/>
                </a:solidFill>
                <a:latin typeface="Times New Roman"/>
                <a:cs typeface="Times New Roman"/>
              </a:rPr>
              <a:t>Rundgren A., Jordan B. and Erdtman S., "JSON Canonicalization Scheme (JCS)," RFC 8785, 2020.</a:t>
            </a:r>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12</a:t>
            </a:fld>
            <a:endParaRPr lang="en-IN"/>
          </a:p>
        </p:txBody>
      </p:sp>
    </p:spTree>
    <p:extLst>
      <p:ext uri="{BB962C8B-B14F-4D97-AF65-F5344CB8AC3E}">
        <p14:creationId xmlns:p14="http://schemas.microsoft.com/office/powerpoint/2010/main" val="15301620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US" altLang="en-US" sz="3200" b="1" dirty="0">
                <a:solidFill>
                  <a:srgbClr val="FF0000"/>
                </a:solidFill>
              </a:rPr>
              <a:t>Paper Status</a:t>
            </a:r>
            <a:endParaRPr lang="en-IN" sz="2800" dirty="0"/>
          </a:p>
        </p:txBody>
      </p:sp>
      <p:sp>
        <p:nvSpPr>
          <p:cNvPr id="6" name="Slide Number Placeholder 5">
            <a:extLst>
              <a:ext uri="{FF2B5EF4-FFF2-40B4-BE49-F238E27FC236}">
                <a16:creationId xmlns:a16="http://schemas.microsoft.com/office/drawing/2014/main" id="{C5DE7F8E-147A-1C48-B5E0-51437A1B86AF}"/>
              </a:ext>
            </a:extLst>
          </p:cNvPr>
          <p:cNvSpPr>
            <a:spLocks noGrp="1"/>
          </p:cNvSpPr>
          <p:nvPr>
            <p:ph type="sldNum" sz="quarter" idx="12"/>
          </p:nvPr>
        </p:nvSpPr>
        <p:spPr/>
        <p:txBody>
          <a:bodyPr/>
          <a:lstStyle/>
          <a:p>
            <a:fld id="{5AB9ECBD-B4DD-40D5-8D24-9ECCDBB1583E}" type="slidenum">
              <a:rPr lang="en-IN" smtClean="0"/>
              <a:t>13</a:t>
            </a:fld>
            <a:endParaRPr lang="en-IN"/>
          </a:p>
        </p:txBody>
      </p:sp>
      <p:sp>
        <p:nvSpPr>
          <p:cNvPr id="7" name="Rectangle 6"/>
          <p:cNvSpPr/>
          <p:nvPr/>
        </p:nvSpPr>
        <p:spPr>
          <a:xfrm>
            <a:off x="758952" y="2011680"/>
            <a:ext cx="2468880" cy="960120"/>
          </a:xfrm>
          <a:prstGeom prst="rect">
            <a:avLst/>
          </a:prstGeom>
          <a:solidFill>
            <a:srgbClr val="002060"/>
          </a:solidFill>
          <a:ln>
            <a:noFill/>
          </a:ln>
        </p:spPr>
        <p:txBody>
          <a:bodyPr wrap="square" lIns="64008" tIns="36576" rIns="64008" bIns="36576" rtlCol="0" anchor="ctr"/>
          <a:lstStyle/>
          <a:p>
            <a:pPr algn="ctr"/>
            <a:r>
              <a:rPr sz="2400" b="1" i="0">
                <a:solidFill>
                  <a:srgbClr val="FFFFFF"/>
                </a:solidFill>
                <a:latin typeface="Times New Roman"/>
              </a:rPr>
              <a:t>Paper Title</a:t>
            </a:r>
          </a:p>
        </p:txBody>
      </p:sp>
      <p:sp>
        <p:nvSpPr>
          <p:cNvPr id="8" name="Rectangle 7"/>
          <p:cNvSpPr/>
          <p:nvPr/>
        </p:nvSpPr>
        <p:spPr>
          <a:xfrm>
            <a:off x="3227832" y="2011680"/>
            <a:ext cx="8193024" cy="960120"/>
          </a:xfrm>
          <a:prstGeom prst="rect">
            <a:avLst/>
          </a:prstGeom>
          <a:solidFill>
            <a:srgbClr val="FFFFFF"/>
          </a:solidFill>
          <a:ln w="12700">
            <a:solidFill>
              <a:srgbClr val="A6A6A6"/>
            </a:solidFill>
          </a:ln>
        </p:spPr>
        <p:txBody>
          <a:bodyPr wrap="square" lIns="228600" tIns="36576" rIns="228600" bIns="36576" rtlCol="0" anchor="ctr"/>
          <a:lstStyle/>
          <a:p>
            <a:r>
              <a:rPr lang="en-US" sz="2400" dirty="0">
                <a:solidFill>
                  <a:srgbClr val="FF0000"/>
                </a:solidFill>
                <a:latin typeface="Times New Roman" panose="02020603050405020304" pitchFamily="18" charset="0"/>
                <a:cs typeface="Times New Roman" panose="02020603050405020304" pitchFamily="18" charset="0"/>
              </a:rPr>
              <a:t>Ambient Social Media Forensics Using Federated Learning</a:t>
            </a:r>
            <a:endParaRPr lang="en-IN" sz="2400" dirty="0">
              <a:solidFill>
                <a:srgbClr val="FF0000"/>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757767" y="3186732"/>
            <a:ext cx="2468880" cy="960120"/>
          </a:xfrm>
          <a:prstGeom prst="rect">
            <a:avLst/>
          </a:prstGeom>
          <a:solidFill>
            <a:srgbClr val="002060"/>
          </a:solidFill>
          <a:ln>
            <a:noFill/>
          </a:ln>
        </p:spPr>
        <p:txBody>
          <a:bodyPr wrap="square" lIns="64008" tIns="36576" rIns="64008" bIns="36576" rtlCol="0" anchor="ctr"/>
          <a:lstStyle/>
          <a:p>
            <a:pPr algn="ctr"/>
            <a:r>
              <a:rPr sz="2400" b="1" i="0">
                <a:solidFill>
                  <a:srgbClr val="FFFFFF"/>
                </a:solidFill>
                <a:latin typeface="Times New Roman"/>
              </a:rPr>
              <a:t>Status</a:t>
            </a:r>
          </a:p>
        </p:txBody>
      </p:sp>
      <p:sp>
        <p:nvSpPr>
          <p:cNvPr id="12" name="Rectangle 11"/>
          <p:cNvSpPr/>
          <p:nvPr/>
        </p:nvSpPr>
        <p:spPr>
          <a:xfrm>
            <a:off x="3231568" y="3186732"/>
            <a:ext cx="8193024" cy="960120"/>
          </a:xfrm>
          <a:prstGeom prst="rect">
            <a:avLst/>
          </a:prstGeom>
          <a:solidFill>
            <a:srgbClr val="FFFFFF"/>
          </a:solidFill>
          <a:ln w="12700">
            <a:solidFill>
              <a:srgbClr val="A6A6A6"/>
            </a:solidFill>
          </a:ln>
        </p:spPr>
        <p:txBody>
          <a:bodyPr wrap="square" lIns="228600" tIns="36576" rIns="228600" bIns="36576" rtlCol="0" anchor="ctr"/>
          <a:lstStyle/>
          <a:p>
            <a:r>
              <a:rPr lang="en-US" sz="2400" dirty="0">
                <a:solidFill>
                  <a:srgbClr val="FF0000"/>
                </a:solidFill>
                <a:latin typeface="Times New Roman" panose="02020603050405020304" pitchFamily="18" charset="0"/>
                <a:cs typeface="Times New Roman" panose="02020603050405020304" pitchFamily="18" charset="0"/>
              </a:rPr>
              <a:t>Conference paper prepared, as stated in the report.</a:t>
            </a:r>
            <a:endParaRPr sz="2400" i="0"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4227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C349C-5BE6-7AA1-4EE3-C4AA5A3BB314}"/>
              </a:ext>
            </a:extLst>
          </p:cNvPr>
          <p:cNvSpPr>
            <a:spLocks noGrp="1"/>
          </p:cNvSpPr>
          <p:nvPr>
            <p:ph type="title"/>
          </p:nvPr>
        </p:nvSpPr>
        <p:spPr>
          <a:xfrm>
            <a:off x="711200" y="3168074"/>
            <a:ext cx="10668000" cy="1216025"/>
          </a:xfrm>
        </p:spPr>
        <p:txBody>
          <a:bodyPr anchor="ctr"/>
          <a:lstStyle/>
          <a:p>
            <a:pPr algn="ctr"/>
            <a:r>
              <a:rPr lang="en-IN" altLang="en-US" sz="4000" b="1" dirty="0">
                <a:solidFill>
                  <a:srgbClr val="FF0000"/>
                </a:solidFill>
              </a:rPr>
              <a:t>Thank You</a:t>
            </a:r>
            <a:endParaRPr lang="en-IN" dirty="0"/>
          </a:p>
        </p:txBody>
      </p:sp>
      <p:sp>
        <p:nvSpPr>
          <p:cNvPr id="4" name="Slide Number Placeholder 3">
            <a:extLst>
              <a:ext uri="{FF2B5EF4-FFF2-40B4-BE49-F238E27FC236}">
                <a16:creationId xmlns:a16="http://schemas.microsoft.com/office/drawing/2014/main" id="{CF44F5F3-B604-7034-3991-F0917DEC107F}"/>
              </a:ext>
            </a:extLst>
          </p:cNvPr>
          <p:cNvSpPr>
            <a:spLocks noGrp="1"/>
          </p:cNvSpPr>
          <p:nvPr>
            <p:ph type="sldNum" sz="quarter" idx="12"/>
          </p:nvPr>
        </p:nvSpPr>
        <p:spPr/>
        <p:txBody>
          <a:bodyPr/>
          <a:lstStyle/>
          <a:p>
            <a:pPr>
              <a:defRPr/>
            </a:pPr>
            <a:fld id="{F583B680-F650-469F-A231-392F163461F6}" type="slidenum">
              <a:rPr lang="en-US" altLang="en-US" smtClean="0"/>
              <a:pPr>
                <a:defRPr/>
              </a:pPr>
              <a:t>14</a:t>
            </a:fld>
            <a:endParaRPr lang="en-US" altLang="en-US" dirty="0"/>
          </a:p>
        </p:txBody>
      </p:sp>
    </p:spTree>
    <p:extLst>
      <p:ext uri="{BB962C8B-B14F-4D97-AF65-F5344CB8AC3E}">
        <p14:creationId xmlns:p14="http://schemas.microsoft.com/office/powerpoint/2010/main" val="2273965067"/>
      </p:ext>
    </p:extLst>
  </p:cSld>
  <p:clrMapOvr>
    <a:masterClrMapping/>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otalTime>886</TotalTime>
  <Words>1530</Words>
  <Application>Microsoft Office PowerPoint</Application>
  <PresentationFormat>Widescreen</PresentationFormat>
  <Paragraphs>153</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Calibri</vt:lpstr>
      <vt:lpstr>Courier New</vt:lpstr>
      <vt:lpstr>Times New Roman</vt:lpstr>
      <vt:lpstr>Verdana</vt:lpstr>
      <vt:lpstr>Wingdings</vt:lpstr>
      <vt:lpstr>Profile</vt:lpstr>
      <vt:lpstr>PowerPoint Presentation</vt:lpstr>
      <vt:lpstr>Introduction</vt:lpstr>
      <vt:lpstr>Literature Survey</vt:lpstr>
      <vt:lpstr>Problem Statement and Motivation</vt:lpstr>
      <vt:lpstr>Abstract</vt:lpstr>
      <vt:lpstr>Objectives</vt:lpstr>
      <vt:lpstr>System Architecture</vt:lpstr>
      <vt:lpstr>List of Modules</vt:lpstr>
      <vt:lpstr>Module Description</vt:lpstr>
      <vt:lpstr>Phase I - Results &amp; Discussion</vt:lpstr>
      <vt:lpstr>Conclusion</vt:lpstr>
      <vt:lpstr>References</vt:lpstr>
      <vt:lpstr>Paper Status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Jaishree</dc:creator>
  <cp:lastModifiedBy>Ram Haygrev Sivakumar</cp:lastModifiedBy>
  <cp:revision>5</cp:revision>
  <dcterms:modified xsi:type="dcterms:W3CDTF">2026-10-07T05:59:44Z</dcterms:modified>
</cp:coreProperties>
</file>